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 &lt;paste the shared link to the code here&gt; The notebook (and the PDF of it) is the full tutorial. To rerun it you need MIMIC-III v1.4 access. Set DATA_DIR in the first code cell to the folder with the csv.gz files and run top to bottom. CHARTEVENTS takes ~15 minutes and the ClinicalBERT step needs a GPU (a Colab T4 works). In this tutorial we predict in-hospital mortality from the first 24 hours of an ICU stay, once with the numbers, once with the notes, and then with both combined.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outcome is in-hospital death (HOSPITAL_EXPIRE_FLAG in ADMISSIONS). We only use data from the first 24 hours in the ICU, so the model could actually be used at hour 24. The top path is the structured data and the bottom path is the text. At the end we combine them.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you're in Colab, upload or mount the MIMIC-III files and set DATA_DIR to that folder. Turn on a GPU runtime before you start, the ClinicalBERT step needs it. The seed is fixed so the split and models come out the same every time.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 is computed from DOB and INTIME. MIMIC shifts anyone over 89 to around 300, so I cap at 90. LOS in ICUSTAYS is in days, so LOS &gt;= 1 means the stay is at least 24 hours long.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most important leakage check in the whole project. Discharge summaries are written at the end of the stay and basically state the outcome, but they only have a CHARTDATE, so requiring a CHARTTIME drops them. I strip the [** **] de-id placeholders and never print any note text.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ITEMIDs come from the first_day_vitals query in the MIMIC code repository. Most vitals have two or more ITEMIDs because the hospital switched charting systems. Temperature in Fahrenheit gets converted to Celsius. For GCS I only keep the worst (minimum) value.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Labs are linked by HADM_ID instead of ICUSTAY_ID, and many are drawn in the emergency department before the patient reaches the ICU, which is why the window starts 6 hours early. The missingness plot shows that a few labs are missing for most patients.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report helper stores each model's predictions in a dictionary, so all the models can be compared at the end with the same code.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add_indicator=True adds a 0/1 column for each feature that had missing values, so the linear model can still use the missingness. Everything is fitted on the training rows only and then applied to everyone.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min_df=20 means a word has to show up in at least 20 different stays, which removes typos and anything rare. The vectorizer is fitted on the training documents only.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BERT can only read 512 tokens at once, so long documents are cut into pieces and the piece vectors are averaged. We don't fine-tune BERT here, it's used frozen as a feature extractor, which only needs one forward pass. Sorting chunks by length before batching cuts down on padding.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Early fusion is the easiest to code but one modality can drown out the other, so I shrink BERT to 64 dimensions with PCA first. Late fusion keeps the two models separate and only mixes their outputs. Intermediate fusion lets a neural network learn how the two inputs interact.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late fusion curve is a nice way to see the value of each modality: w = 1 is structured only, w = 0 is notes only, and the bump in the middle is the gain from combining them.</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Early stopping on validation AUROC with patience 5 keeps it from overfitting, and the best epoch's weights are restored at the end. Dropout and weight decay help too. It trains in seconds on a GPU since the inputs are already vectors.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AUPRC matters here because only about 11 percent of patients die; a random model would get an AUPRC of about 0.11. Brier score checks the probabilities themselves, lower is better.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calibration plot compares predicted risk with the observed death rate in ten bins. Points on the diagonal mean the probabilities can be taken literally.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Comparing two confidence intervals by eye isn't enough, because the models are tested on the same patients. The paired bootstrap looks at the difference directly.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Permutation importance shuffles one column at a time and measures the drop in AUROC. The TF-IDF coefficients show which words push the predicted risk up or down. These are aggregated vocabulary terms, no note text is shown.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 up: structured data alone is strong, TF-IDF on the notes was almost as strong, and combining them with a simple weighted average gave a small but real improvement. Limitations: one hospital, one split, and stays without early notes were dropped. Some words like cmo or DNR reflect decisions, not just physiology. If you want to extend this, try fusing the TF-IDF model instead of ClinicalBERT, or fine-tune ClinicalBERT instead of freezing 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image" Target="../media/image24.png"/><Relationship Id="rId7" Type="http://schemas.openxmlformats.org/officeDocument/2006/relationships/image" Target="../media/image25.png"/><Relationship Id="rId8" Type="http://schemas.openxmlformats.org/officeDocument/2006/relationships/image" Target="../media/image26.png"/><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image" Target="../media/image30.png"/><Relationship Id="rId6" Type="http://schemas.openxmlformats.org/officeDocument/2006/relationships/image" Target="../media/image31.png"/><Relationship Id="rId7" Type="http://schemas.openxmlformats.org/officeDocument/2006/relationships/image" Target="../media/image32.png"/><Relationship Id="rId8" Type="http://schemas.openxmlformats.org/officeDocument/2006/relationships/image" Target="../media/image33.png"/><Relationship Id="rId9" Type="http://schemas.openxmlformats.org/officeDocument/2006/relationships/image" Target="../media/image34.png"/><Relationship Id="rId10" Type="http://schemas.openxmlformats.org/officeDocument/2006/relationships/image" Target="../media/image35.png"/><Relationship Id="rId11"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image" Target="../media/image38.png"/><Relationship Id="rId4" Type="http://schemas.openxmlformats.org/officeDocument/2006/relationships/image" Target="../media/image39.png"/><Relationship Id="rId5" Type="http://schemas.openxmlformats.org/officeDocument/2006/relationships/image" Target="../media/image40.png"/><Relationship Id="rId6" Type="http://schemas.openxmlformats.org/officeDocument/2006/relationships/image" Target="../media/image41.png"/><Relationship Id="rId7" Type="http://schemas.openxmlformats.org/officeDocument/2006/relationships/image" Target="../media/image42.png"/><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image" Target="../media/image44.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image" Target="../media/image46.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 Id="rId3" Type="http://schemas.openxmlformats.org/officeDocument/2006/relationships/image" Target="../media/image49.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 Id="rId3" Type="http://schemas.openxmlformats.org/officeDocument/2006/relationships/image" Target="../media/image52.png"/><Relationship Id="rId4"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2103120"/>
            <a:ext cx="10515600" cy="914400"/>
          </a:xfrm>
          <a:prstGeom prst="rect">
            <a:avLst/>
          </a:prstGeom>
          <a:noFill/>
        </p:spPr>
        <p:txBody>
          <a:bodyPr wrap="square">
            <a:spAutoFit/>
          </a:bodyPr>
          <a:lstStyle/>
          <a:p>
            <a:pPr algn="ctr"/>
            <a:r>
              <a:rPr sz="5400" b="1">
                <a:solidFill>
                  <a:srgbClr val="1A1F2B"/>
                </a:solidFill>
                <a:latin typeface="Calibri"/>
              </a:rPr>
              <a:t>MIMIC Multimodal Fusion</a:t>
            </a:r>
          </a:p>
        </p:txBody>
      </p:sp>
      <p:sp>
        <p:nvSpPr>
          <p:cNvPr id="3" name="TextBox 2"/>
          <p:cNvSpPr txBox="1"/>
          <p:nvPr/>
        </p:nvSpPr>
        <p:spPr>
          <a:xfrm>
            <a:off x="822960" y="3154680"/>
            <a:ext cx="10515600" cy="548640"/>
          </a:xfrm>
          <a:prstGeom prst="rect">
            <a:avLst/>
          </a:prstGeom>
          <a:noFill/>
        </p:spPr>
        <p:txBody>
          <a:bodyPr wrap="square">
            <a:spAutoFit/>
          </a:bodyPr>
          <a:lstStyle/>
          <a:p>
            <a:pPr algn="ctr"/>
            <a:r>
              <a:rPr sz="2000" b="0">
                <a:solidFill>
                  <a:srgbClr val="5A6374"/>
                </a:solidFill>
                <a:latin typeface="Calibri"/>
              </a:rPr>
              <a:t>Predicting ICU mortality from first-day vitals, labs and clinical notes</a:t>
            </a:r>
          </a:p>
        </p:txBody>
      </p:sp>
      <p:sp>
        <p:nvSpPr>
          <p:cNvPr id="4" name="Rectangle 3"/>
          <p:cNvSpPr/>
          <p:nvPr/>
        </p:nvSpPr>
        <p:spPr>
          <a:xfrm>
            <a:off x="4270248" y="4160520"/>
            <a:ext cx="3657600" cy="9525"/>
          </a:xfrm>
          <a:prstGeom prst="rect">
            <a:avLst/>
          </a:prstGeom>
          <a:solidFill>
            <a:srgbClr val="D8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292608"/>
            <a:ext cx="10908792" cy="274320"/>
          </a:xfrm>
          <a:prstGeom prst="rect">
            <a:avLst/>
          </a:prstGeom>
          <a:noFill/>
        </p:spPr>
        <p:txBody>
          <a:bodyPr wrap="square">
            <a:spAutoFit/>
          </a:bodyPr>
          <a:lstStyle/>
          <a:p>
            <a:pPr algn="l"/>
            <a:r>
              <a:rPr sz="1200" b="1">
                <a:solidFill>
                  <a:srgbClr val="0173B2"/>
                </a:solidFill>
                <a:latin typeface="Calibri"/>
              </a:rPr>
              <a:t>OVERVIEW</a:t>
            </a:r>
          </a:p>
        </p:txBody>
      </p:sp>
      <p:sp>
        <p:nvSpPr>
          <p:cNvPr id="3" name="TextBox 2"/>
          <p:cNvSpPr txBox="1"/>
          <p:nvPr/>
        </p:nvSpPr>
        <p:spPr>
          <a:xfrm>
            <a:off x="640080" y="566928"/>
            <a:ext cx="10908792" cy="457200"/>
          </a:xfrm>
          <a:prstGeom prst="rect">
            <a:avLst/>
          </a:prstGeom>
          <a:noFill/>
        </p:spPr>
        <p:txBody>
          <a:bodyPr wrap="square">
            <a:spAutoFit/>
          </a:bodyPr>
          <a:lstStyle/>
          <a:p>
            <a:pPr algn="l"/>
            <a:r>
              <a:rPr sz="2500" b="1">
                <a:solidFill>
                  <a:srgbClr val="1A1F2B"/>
                </a:solidFill>
                <a:latin typeface="Calibri"/>
              </a:rPr>
              <a:t>What we're building</a:t>
            </a:r>
          </a:p>
        </p:txBody>
      </p:sp>
      <p:sp>
        <p:nvSpPr>
          <p:cNvPr id="4" name="Rectangle 3"/>
          <p:cNvSpPr/>
          <p:nvPr/>
        </p:nvSpPr>
        <p:spPr>
          <a:xfrm>
            <a:off x="640080" y="1133856"/>
            <a:ext cx="10908792" cy="9525"/>
          </a:xfrm>
          <a:prstGeom prst="rect">
            <a:avLst/>
          </a:prstGeom>
          <a:solidFill>
            <a:srgbClr val="D8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243584"/>
            <a:ext cx="10908792" cy="393192"/>
          </a:xfrm>
          <a:prstGeom prst="rect">
            <a:avLst/>
          </a:prstGeom>
          <a:noFill/>
        </p:spPr>
        <p:txBody>
          <a:bodyPr wrap="square">
            <a:spAutoFit/>
          </a:bodyPr>
          <a:lstStyle/>
          <a:p>
            <a:pPr algn="l"/>
            <a:r>
              <a:rPr sz="1300" b="0">
                <a:solidFill>
                  <a:srgbClr val="5A6374"/>
                </a:solidFill>
                <a:latin typeface="Calibri"/>
              </a:rPr>
              <a:t>Two kinds of data from the first 24 hours of an ICU stay, a model for each, and then a model that uses both.</a:t>
            </a:r>
          </a:p>
        </p:txBody>
      </p:sp>
      <p:pic>
        <p:nvPicPr>
          <p:cNvPr id="6" name="Picture 5" descr="pipeline.png"/>
          <p:cNvPicPr>
            <a:picLocks noChangeAspect="1"/>
          </p:cNvPicPr>
          <p:nvPr/>
        </p:nvPicPr>
        <p:blipFill>
          <a:blip r:embed="rId2"/>
          <a:stretch>
            <a:fillRect/>
          </a:stretch>
        </p:blipFill>
        <p:spPr>
          <a:xfrm>
            <a:off x="640080" y="1828800"/>
            <a:ext cx="10908792" cy="3641572"/>
          </a:xfrm>
          <a:prstGeom prst="rect">
            <a:avLst/>
          </a:prstGeom>
        </p:spPr>
      </p:pic>
      <p:sp>
        <p:nvSpPr>
          <p:cNvPr id="7" name="Rectangle 6"/>
          <p:cNvSpPr/>
          <p:nvPr/>
        </p:nvSpPr>
        <p:spPr>
          <a:xfrm>
            <a:off x="640080" y="5607532"/>
            <a:ext cx="10908792" cy="9525"/>
          </a:xfrm>
          <a:prstGeom prst="rect">
            <a:avLst/>
          </a:prstGeom>
          <a:solidFill>
            <a:srgbClr val="D8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5717260"/>
            <a:ext cx="10908792" cy="457200"/>
          </a:xfrm>
          <a:prstGeom prst="rect">
            <a:avLst/>
          </a:prstGeom>
          <a:noFill/>
        </p:spPr>
        <p:txBody>
          <a:bodyPr wrap="square">
            <a:spAutoFit/>
          </a:bodyPr>
          <a:lstStyle/>
          <a:p>
            <a:pPr algn="l"/>
            <a:r>
              <a:rPr sz="1100" b="1">
                <a:solidFill>
                  <a:srgbClr val="0173B2"/>
                </a:solidFill>
                <a:latin typeface="Calibri"/>
              </a:rPr>
              <a:t>WHY IT MATTERS  </a:t>
            </a:r>
            <a:r>
              <a:rPr sz="1350" b="0">
                <a:solidFill>
                  <a:srgbClr val="1A1F2B"/>
                </a:solidFill>
                <a:latin typeface="Calibri"/>
              </a:rPr>
              <a:t>Clinicians look at the numbers and read the notes. Most mortality models only use the numbers, so the question is whether the notes add anything.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292608"/>
            <a:ext cx="10908792" cy="274320"/>
          </a:xfrm>
          <a:prstGeom prst="rect">
            <a:avLst/>
          </a:prstGeom>
          <a:noFill/>
        </p:spPr>
        <p:txBody>
          <a:bodyPr wrap="square">
            <a:spAutoFit/>
          </a:bodyPr>
          <a:lstStyle/>
          <a:p>
            <a:pPr algn="l"/>
            <a:r>
              <a:rPr sz="1200" b="1">
                <a:solidFill>
                  <a:srgbClr val="0173B2"/>
                </a:solidFill>
                <a:latin typeface="Calibri"/>
              </a:rPr>
              <a:t>STEP 1 · SETUP</a:t>
            </a:r>
          </a:p>
        </p:txBody>
      </p:sp>
      <p:sp>
        <p:nvSpPr>
          <p:cNvPr id="3" name="TextBox 2"/>
          <p:cNvSpPr txBox="1"/>
          <p:nvPr/>
        </p:nvSpPr>
        <p:spPr>
          <a:xfrm>
            <a:off x="640080" y="566928"/>
            <a:ext cx="10908792" cy="457200"/>
          </a:xfrm>
          <a:prstGeom prst="rect">
            <a:avLst/>
          </a:prstGeom>
          <a:noFill/>
        </p:spPr>
        <p:txBody>
          <a:bodyPr wrap="square">
            <a:spAutoFit/>
          </a:bodyPr>
          <a:lstStyle/>
          <a:p>
            <a:pPr algn="l"/>
            <a:r>
              <a:rPr sz="2500" b="1">
                <a:solidFill>
                  <a:srgbClr val="1A1F2B"/>
                </a:solidFill>
                <a:latin typeface="Calibri"/>
              </a:rPr>
              <a:t>Imports and settings</a:t>
            </a:r>
          </a:p>
        </p:txBody>
      </p:sp>
      <p:sp>
        <p:nvSpPr>
          <p:cNvPr id="4" name="Rectangle 3"/>
          <p:cNvSpPr/>
          <p:nvPr/>
        </p:nvSpPr>
        <p:spPr>
          <a:xfrm>
            <a:off x="640080" y="1133856"/>
            <a:ext cx="10908792" cy="9525"/>
          </a:xfrm>
          <a:prstGeom prst="rect">
            <a:avLst/>
          </a:prstGeom>
          <a:solidFill>
            <a:srgbClr val="D8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243584"/>
            <a:ext cx="10908792" cy="393192"/>
          </a:xfrm>
          <a:prstGeom prst="rect">
            <a:avLst/>
          </a:prstGeom>
          <a:noFill/>
        </p:spPr>
        <p:txBody>
          <a:bodyPr wrap="square">
            <a:spAutoFit/>
          </a:bodyPr>
          <a:lstStyle/>
          <a:p>
            <a:pPr algn="l"/>
            <a:r>
              <a:rPr sz="1300" b="0">
                <a:solidFill>
                  <a:srgbClr val="5A6374"/>
                </a:solidFill>
                <a:latin typeface="Calibri"/>
              </a:rPr>
              <a:t>Everything is standard pandas / scikit-learn / PyTorch / transformers. DATA_DIR is the only thing you need to change.</a:t>
            </a:r>
          </a:p>
        </p:txBody>
      </p:sp>
      <p:pic>
        <p:nvPicPr>
          <p:cNvPr id="6" name="Picture 5" descr="cell1_in.png"/>
          <p:cNvPicPr>
            <a:picLocks noChangeAspect="1"/>
          </p:cNvPicPr>
          <p:nvPr/>
        </p:nvPicPr>
        <p:blipFill>
          <a:blip r:embed="rId2"/>
          <a:stretch>
            <a:fillRect/>
          </a:stretch>
        </p:blipFill>
        <p:spPr>
          <a:xfrm>
            <a:off x="640080" y="1828800"/>
            <a:ext cx="6856656" cy="3767616"/>
          </a:xfrm>
          <a:prstGeom prst="rect">
            <a:avLst/>
          </a:prstGeom>
        </p:spPr>
      </p:pic>
      <p:pic>
        <p:nvPicPr>
          <p:cNvPr id="7" name="Picture 6" descr="cell1_out0.png"/>
          <p:cNvPicPr>
            <a:picLocks noChangeAspect="1"/>
          </p:cNvPicPr>
          <p:nvPr/>
        </p:nvPicPr>
        <p:blipFill>
          <a:blip r:embed="rId3"/>
          <a:stretch>
            <a:fillRect/>
          </a:stretch>
        </p:blipFill>
        <p:spPr>
          <a:xfrm>
            <a:off x="640080" y="5669568"/>
            <a:ext cx="1744548" cy="91152"/>
          </a:xfrm>
          <a:prstGeom prst="rect">
            <a:avLst/>
          </a:prstGeom>
        </p:spPr>
      </p:pic>
      <p:sp>
        <p:nvSpPr>
          <p:cNvPr id="8" name="Rectangle 7"/>
          <p:cNvSpPr/>
          <p:nvPr/>
        </p:nvSpPr>
        <p:spPr>
          <a:xfrm>
            <a:off x="640080" y="5897880"/>
            <a:ext cx="10908792" cy="9525"/>
          </a:xfrm>
          <a:prstGeom prst="rect">
            <a:avLst/>
          </a:prstGeom>
          <a:solidFill>
            <a:srgbClr val="D8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6007608"/>
            <a:ext cx="10908792" cy="457200"/>
          </a:xfrm>
          <a:prstGeom prst="rect">
            <a:avLst/>
          </a:prstGeom>
          <a:noFill/>
        </p:spPr>
        <p:txBody>
          <a:bodyPr wrap="square">
            <a:spAutoFit/>
          </a:bodyPr>
          <a:lstStyle/>
          <a:p>
            <a:pPr algn="l"/>
            <a:r>
              <a:rPr sz="1100" b="1">
                <a:solidFill>
                  <a:srgbClr val="0173B2"/>
                </a:solidFill>
                <a:latin typeface="Calibri"/>
              </a:rPr>
              <a:t>WHY IT MATTERS  </a:t>
            </a:r>
            <a:r>
              <a:rPr sz="1350" b="0">
                <a:solidFill>
                  <a:srgbClr val="1A1F2B"/>
                </a:solidFill>
                <a:latin typeface="Calibri"/>
              </a:rPr>
              <a:t>Big intermediate results are cached in cache/, so if something breaks later you don't redo the slow steps.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292608"/>
            <a:ext cx="10908792" cy="274320"/>
          </a:xfrm>
          <a:prstGeom prst="rect">
            <a:avLst/>
          </a:prstGeom>
          <a:noFill/>
        </p:spPr>
        <p:txBody>
          <a:bodyPr wrap="square">
            <a:spAutoFit/>
          </a:bodyPr>
          <a:lstStyle/>
          <a:p>
            <a:pPr algn="l"/>
            <a:r>
              <a:rPr sz="1200" b="1">
                <a:solidFill>
                  <a:srgbClr val="0173B2"/>
                </a:solidFill>
                <a:latin typeface="Calibri"/>
              </a:rPr>
              <a:t>STEP 2 · ICUSTAYS + PATIENTS + ADMISSIONS</a:t>
            </a:r>
          </a:p>
        </p:txBody>
      </p:sp>
      <p:sp>
        <p:nvSpPr>
          <p:cNvPr id="3" name="TextBox 2"/>
          <p:cNvSpPr txBox="1"/>
          <p:nvPr/>
        </p:nvSpPr>
        <p:spPr>
          <a:xfrm>
            <a:off x="640080" y="566928"/>
            <a:ext cx="10908792" cy="457200"/>
          </a:xfrm>
          <a:prstGeom prst="rect">
            <a:avLst/>
          </a:prstGeom>
          <a:noFill/>
        </p:spPr>
        <p:txBody>
          <a:bodyPr wrap="square">
            <a:spAutoFit/>
          </a:bodyPr>
          <a:lstStyle/>
          <a:p>
            <a:pPr algn="l"/>
            <a:r>
              <a:rPr sz="2500" b="1">
                <a:solidFill>
                  <a:srgbClr val="1A1F2B"/>
                </a:solidFill>
                <a:latin typeface="Calibri"/>
              </a:rPr>
              <a:t>Building the cohort</a:t>
            </a:r>
          </a:p>
        </p:txBody>
      </p:sp>
      <p:sp>
        <p:nvSpPr>
          <p:cNvPr id="4" name="Rectangle 3"/>
          <p:cNvSpPr/>
          <p:nvPr/>
        </p:nvSpPr>
        <p:spPr>
          <a:xfrm>
            <a:off x="640080" y="1133856"/>
            <a:ext cx="10908792" cy="9525"/>
          </a:xfrm>
          <a:prstGeom prst="rect">
            <a:avLst/>
          </a:prstGeom>
          <a:solidFill>
            <a:srgbClr val="D8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243584"/>
            <a:ext cx="10908792" cy="393192"/>
          </a:xfrm>
          <a:prstGeom prst="rect">
            <a:avLst/>
          </a:prstGeom>
          <a:noFill/>
        </p:spPr>
        <p:txBody>
          <a:bodyPr wrap="square">
            <a:spAutoFit/>
          </a:bodyPr>
          <a:lstStyle/>
          <a:p>
            <a:pPr algn="l"/>
            <a:r>
              <a:rPr sz="1300" b="0">
                <a:solidFill>
                  <a:srgbClr val="5A6374"/>
                </a:solidFill>
                <a:latin typeface="Calibri"/>
              </a:rPr>
              <a:t>Joins the three tables, then applies the exclusion rules one at a time and prints how many stays are left.</a:t>
            </a:r>
          </a:p>
        </p:txBody>
      </p:sp>
      <p:pic>
        <p:nvPicPr>
          <p:cNvPr id="6" name="Picture 5" descr="cell3_in.png"/>
          <p:cNvPicPr>
            <a:picLocks noChangeAspect="1"/>
          </p:cNvPicPr>
          <p:nvPr/>
        </p:nvPicPr>
        <p:blipFill>
          <a:blip r:embed="rId2"/>
          <a:stretch>
            <a:fillRect/>
          </a:stretch>
        </p:blipFill>
        <p:spPr>
          <a:xfrm>
            <a:off x="640080" y="1828800"/>
            <a:ext cx="7280818" cy="1532520"/>
          </a:xfrm>
          <a:prstGeom prst="rect">
            <a:avLst/>
          </a:prstGeom>
        </p:spPr>
      </p:pic>
      <p:pic>
        <p:nvPicPr>
          <p:cNvPr id="7" name="Picture 6" descr="cell3_out0.png"/>
          <p:cNvPicPr>
            <a:picLocks noChangeAspect="1"/>
          </p:cNvPicPr>
          <p:nvPr/>
        </p:nvPicPr>
        <p:blipFill>
          <a:blip r:embed="rId3"/>
          <a:stretch>
            <a:fillRect/>
          </a:stretch>
        </p:blipFill>
        <p:spPr>
          <a:xfrm>
            <a:off x="8195218" y="1828800"/>
            <a:ext cx="3353653" cy="1002688"/>
          </a:xfrm>
          <a:prstGeom prst="rect">
            <a:avLst/>
          </a:prstGeom>
        </p:spPr>
      </p:pic>
      <p:sp>
        <p:nvSpPr>
          <p:cNvPr id="8" name="Rectangle 7"/>
          <p:cNvSpPr/>
          <p:nvPr/>
        </p:nvSpPr>
        <p:spPr>
          <a:xfrm>
            <a:off x="640080" y="3498480"/>
            <a:ext cx="10908792" cy="9525"/>
          </a:xfrm>
          <a:prstGeom prst="rect">
            <a:avLst/>
          </a:prstGeom>
          <a:solidFill>
            <a:srgbClr val="D8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3608208"/>
            <a:ext cx="10908792" cy="457200"/>
          </a:xfrm>
          <a:prstGeom prst="rect">
            <a:avLst/>
          </a:prstGeom>
          <a:noFill/>
        </p:spPr>
        <p:txBody>
          <a:bodyPr wrap="square">
            <a:spAutoFit/>
          </a:bodyPr>
          <a:lstStyle/>
          <a:p>
            <a:pPr algn="l"/>
            <a:r>
              <a:rPr sz="1100" b="1">
                <a:solidFill>
                  <a:srgbClr val="0173B2"/>
                </a:solidFill>
                <a:latin typeface="Calibri"/>
              </a:rPr>
              <a:t>WHY IT MATTERS  </a:t>
            </a:r>
            <a:r>
              <a:rPr sz="1350" b="0">
                <a:solidFill>
                  <a:srgbClr val="1A1F2B"/>
                </a:solidFill>
                <a:latin typeface="Calibri"/>
              </a:rPr>
              <a:t>First stay per patient means the same person can't be in train and test. Dropping patients who die before hour 24 avoids predicting something we already know.</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292608"/>
            <a:ext cx="10908792" cy="274320"/>
          </a:xfrm>
          <a:prstGeom prst="rect">
            <a:avLst/>
          </a:prstGeom>
          <a:noFill/>
        </p:spPr>
        <p:txBody>
          <a:bodyPr wrap="square">
            <a:spAutoFit/>
          </a:bodyPr>
          <a:lstStyle/>
          <a:p>
            <a:pPr algn="l"/>
            <a:r>
              <a:rPr sz="1200" b="1">
                <a:solidFill>
                  <a:srgbClr val="0173B2"/>
                </a:solidFill>
                <a:latin typeface="Calibri"/>
              </a:rPr>
              <a:t>STEP 3 · NOTEEVENTS</a:t>
            </a:r>
          </a:p>
        </p:txBody>
      </p:sp>
      <p:sp>
        <p:nvSpPr>
          <p:cNvPr id="3" name="TextBox 2"/>
          <p:cNvSpPr txBox="1"/>
          <p:nvPr/>
        </p:nvSpPr>
        <p:spPr>
          <a:xfrm>
            <a:off x="640080" y="566928"/>
            <a:ext cx="10908792" cy="457200"/>
          </a:xfrm>
          <a:prstGeom prst="rect">
            <a:avLst/>
          </a:prstGeom>
          <a:noFill/>
        </p:spPr>
        <p:txBody>
          <a:bodyPr wrap="square">
            <a:spAutoFit/>
          </a:bodyPr>
          <a:lstStyle/>
          <a:p>
            <a:pPr algn="l"/>
            <a:r>
              <a:rPr sz="2500" b="1">
                <a:solidFill>
                  <a:srgbClr val="1A1F2B"/>
                </a:solidFill>
                <a:latin typeface="Calibri"/>
              </a:rPr>
              <a:t>Notes from the first 24 hours</a:t>
            </a:r>
          </a:p>
        </p:txBody>
      </p:sp>
      <p:sp>
        <p:nvSpPr>
          <p:cNvPr id="4" name="Rectangle 3"/>
          <p:cNvSpPr/>
          <p:nvPr/>
        </p:nvSpPr>
        <p:spPr>
          <a:xfrm>
            <a:off x="640080" y="1133856"/>
            <a:ext cx="10908792" cy="9525"/>
          </a:xfrm>
          <a:prstGeom prst="rect">
            <a:avLst/>
          </a:prstGeom>
          <a:solidFill>
            <a:srgbClr val="D8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243584"/>
            <a:ext cx="10908792" cy="393192"/>
          </a:xfrm>
          <a:prstGeom prst="rect">
            <a:avLst/>
          </a:prstGeom>
          <a:noFill/>
        </p:spPr>
        <p:txBody>
          <a:bodyPr wrap="square">
            <a:spAutoFit/>
          </a:bodyPr>
          <a:lstStyle/>
          <a:p>
            <a:pPr algn="l"/>
            <a:r>
              <a:rPr sz="1300" b="0">
                <a:solidFill>
                  <a:srgbClr val="5A6374"/>
                </a:solidFill>
                <a:latin typeface="Calibri"/>
              </a:rPr>
              <a:t>Reads NOTEEVENTS in chunks and keeps notes with a CHARTTIME between ICU admission and hour 24.</a:t>
            </a:r>
          </a:p>
        </p:txBody>
      </p:sp>
      <p:pic>
        <p:nvPicPr>
          <p:cNvPr id="6" name="Picture 5" descr="cell5_in.png"/>
          <p:cNvPicPr>
            <a:picLocks noChangeAspect="1"/>
          </p:cNvPicPr>
          <p:nvPr/>
        </p:nvPicPr>
        <p:blipFill>
          <a:blip r:embed="rId2"/>
          <a:stretch>
            <a:fillRect/>
          </a:stretch>
        </p:blipFill>
        <p:spPr>
          <a:xfrm>
            <a:off x="640080" y="1828800"/>
            <a:ext cx="5862675" cy="2043709"/>
          </a:xfrm>
          <a:prstGeom prst="rect">
            <a:avLst/>
          </a:prstGeom>
        </p:spPr>
      </p:pic>
      <p:pic>
        <p:nvPicPr>
          <p:cNvPr id="7" name="Picture 6" descr="cell5_out0.png"/>
          <p:cNvPicPr>
            <a:picLocks noChangeAspect="1"/>
          </p:cNvPicPr>
          <p:nvPr/>
        </p:nvPicPr>
        <p:blipFill>
          <a:blip r:embed="rId3"/>
          <a:stretch>
            <a:fillRect/>
          </a:stretch>
        </p:blipFill>
        <p:spPr>
          <a:xfrm>
            <a:off x="640080" y="3945661"/>
            <a:ext cx="1597730" cy="666803"/>
          </a:xfrm>
          <a:prstGeom prst="rect">
            <a:avLst/>
          </a:prstGeom>
        </p:spPr>
      </p:pic>
      <p:pic>
        <p:nvPicPr>
          <p:cNvPr id="8" name="Picture 7" descr="notes_overview.png"/>
          <p:cNvPicPr>
            <a:picLocks noChangeAspect="1"/>
          </p:cNvPicPr>
          <p:nvPr/>
        </p:nvPicPr>
        <p:blipFill>
          <a:blip r:embed="rId4"/>
          <a:stretch>
            <a:fillRect/>
          </a:stretch>
        </p:blipFill>
        <p:spPr>
          <a:xfrm>
            <a:off x="6777075" y="1828800"/>
            <a:ext cx="4771796" cy="1393354"/>
          </a:xfrm>
          <a:prstGeom prst="rect">
            <a:avLst/>
          </a:prstGeom>
        </p:spPr>
      </p:pic>
      <p:sp>
        <p:nvSpPr>
          <p:cNvPr id="9" name="Rectangle 8"/>
          <p:cNvSpPr/>
          <p:nvPr/>
        </p:nvSpPr>
        <p:spPr>
          <a:xfrm>
            <a:off x="640080" y="4749624"/>
            <a:ext cx="10908792" cy="9525"/>
          </a:xfrm>
          <a:prstGeom prst="rect">
            <a:avLst/>
          </a:prstGeom>
          <a:solidFill>
            <a:srgbClr val="D8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4859352"/>
            <a:ext cx="10908792" cy="457200"/>
          </a:xfrm>
          <a:prstGeom prst="rect">
            <a:avLst/>
          </a:prstGeom>
          <a:noFill/>
        </p:spPr>
        <p:txBody>
          <a:bodyPr wrap="square">
            <a:spAutoFit/>
          </a:bodyPr>
          <a:lstStyle/>
          <a:p>
            <a:pPr algn="l"/>
            <a:r>
              <a:rPr sz="1100" b="1">
                <a:solidFill>
                  <a:srgbClr val="0173B2"/>
                </a:solidFill>
                <a:latin typeface="Calibri"/>
              </a:rPr>
              <a:t>WHY IT MATTERS  </a:t>
            </a:r>
            <a:r>
              <a:rPr sz="1350" b="0">
                <a:solidFill>
                  <a:srgbClr val="1A1F2B"/>
                </a:solidFill>
                <a:latin typeface="Calibri"/>
              </a:rPr>
              <a:t>29,901 stays have at least one note (169,875 notes, about 6 per stay). Mortality is 10.4%. Requiring a CHARTTIME keeps discharge summaries out, since they basically state the outcome.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292608"/>
            <a:ext cx="10908792" cy="274320"/>
          </a:xfrm>
          <a:prstGeom prst="rect">
            <a:avLst/>
          </a:prstGeom>
          <a:noFill/>
        </p:spPr>
        <p:txBody>
          <a:bodyPr wrap="square">
            <a:spAutoFit/>
          </a:bodyPr>
          <a:lstStyle/>
          <a:p>
            <a:pPr algn="l"/>
            <a:r>
              <a:rPr sz="1200" b="1">
                <a:solidFill>
                  <a:srgbClr val="0173B2"/>
                </a:solidFill>
                <a:latin typeface="Calibri"/>
              </a:rPr>
              <a:t>STEP 4 · CHARTEVENTS</a:t>
            </a:r>
          </a:p>
        </p:txBody>
      </p:sp>
      <p:sp>
        <p:nvSpPr>
          <p:cNvPr id="3" name="TextBox 2"/>
          <p:cNvSpPr txBox="1"/>
          <p:nvPr/>
        </p:nvSpPr>
        <p:spPr>
          <a:xfrm>
            <a:off x="640080" y="566928"/>
            <a:ext cx="10908792" cy="457200"/>
          </a:xfrm>
          <a:prstGeom prst="rect">
            <a:avLst/>
          </a:prstGeom>
          <a:noFill/>
        </p:spPr>
        <p:txBody>
          <a:bodyPr wrap="square">
            <a:spAutoFit/>
          </a:bodyPr>
          <a:lstStyle/>
          <a:p>
            <a:pPr algn="l"/>
            <a:r>
              <a:rPr sz="2500" b="1">
                <a:solidFill>
                  <a:srgbClr val="1A1F2B"/>
                </a:solidFill>
                <a:latin typeface="Calibri"/>
              </a:rPr>
              <a:t>Vital signs</a:t>
            </a:r>
          </a:p>
        </p:txBody>
      </p:sp>
      <p:sp>
        <p:nvSpPr>
          <p:cNvPr id="4" name="Rectangle 3"/>
          <p:cNvSpPr/>
          <p:nvPr/>
        </p:nvSpPr>
        <p:spPr>
          <a:xfrm>
            <a:off x="640080" y="1133856"/>
            <a:ext cx="10908792" cy="9525"/>
          </a:xfrm>
          <a:prstGeom prst="rect">
            <a:avLst/>
          </a:prstGeom>
          <a:solidFill>
            <a:srgbClr val="D8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243584"/>
            <a:ext cx="10908792" cy="393192"/>
          </a:xfrm>
          <a:prstGeom prst="rect">
            <a:avLst/>
          </a:prstGeom>
          <a:noFill/>
        </p:spPr>
        <p:txBody>
          <a:bodyPr wrap="square">
            <a:spAutoFit/>
          </a:bodyPr>
          <a:lstStyle/>
          <a:p>
            <a:pPr algn="l"/>
            <a:r>
              <a:rPr sz="1300" b="0">
                <a:solidFill>
                  <a:srgbClr val="5A6374"/>
                </a:solidFill>
                <a:latin typeface="Calibri"/>
              </a:rPr>
              <a:t>Pulls 11 vitals (both CareVue and MetaVision ITEMIDs), removes impossible values, and takes min / max / mean per stay.</a:t>
            </a:r>
          </a:p>
        </p:txBody>
      </p:sp>
      <p:pic>
        <p:nvPicPr>
          <p:cNvPr id="6" name="Picture 5" descr="cell8_in.png"/>
          <p:cNvPicPr>
            <a:picLocks noChangeAspect="1"/>
          </p:cNvPicPr>
          <p:nvPr/>
        </p:nvPicPr>
        <p:blipFill>
          <a:blip r:embed="rId2"/>
          <a:stretch>
            <a:fillRect/>
          </a:stretch>
        </p:blipFill>
        <p:spPr>
          <a:xfrm>
            <a:off x="640080" y="1828800"/>
            <a:ext cx="6842955" cy="3931919"/>
          </a:xfrm>
          <a:prstGeom prst="rect">
            <a:avLst/>
          </a:prstGeom>
        </p:spPr>
      </p:pic>
      <p:pic>
        <p:nvPicPr>
          <p:cNvPr id="7" name="Picture 6" descr="cell8_out0.png"/>
          <p:cNvPicPr>
            <a:picLocks noChangeAspect="1"/>
          </p:cNvPicPr>
          <p:nvPr/>
        </p:nvPicPr>
        <p:blipFill>
          <a:blip r:embed="rId3"/>
          <a:stretch>
            <a:fillRect/>
          </a:stretch>
        </p:blipFill>
        <p:spPr>
          <a:xfrm>
            <a:off x="8413394" y="1828800"/>
            <a:ext cx="3135477" cy="164065"/>
          </a:xfrm>
          <a:prstGeom prst="rect">
            <a:avLst/>
          </a:prstGeom>
        </p:spPr>
      </p:pic>
      <p:pic>
        <p:nvPicPr>
          <p:cNvPr id="8" name="Picture 7" descr="cell8_out1.png"/>
          <p:cNvPicPr>
            <a:picLocks noChangeAspect="1"/>
          </p:cNvPicPr>
          <p:nvPr/>
        </p:nvPicPr>
        <p:blipFill>
          <a:blip r:embed="rId4"/>
          <a:stretch>
            <a:fillRect/>
          </a:stretch>
        </p:blipFill>
        <p:spPr>
          <a:xfrm>
            <a:off x="8413394" y="2066017"/>
            <a:ext cx="1663443" cy="273442"/>
          </a:xfrm>
          <a:prstGeom prst="rect">
            <a:avLst/>
          </a:prstGeom>
        </p:spPr>
      </p:pic>
      <p:sp>
        <p:nvSpPr>
          <p:cNvPr id="9" name="Rectangle 8"/>
          <p:cNvSpPr/>
          <p:nvPr/>
        </p:nvSpPr>
        <p:spPr>
          <a:xfrm>
            <a:off x="640080" y="5897879"/>
            <a:ext cx="10908792" cy="9525"/>
          </a:xfrm>
          <a:prstGeom prst="rect">
            <a:avLst/>
          </a:prstGeom>
          <a:solidFill>
            <a:srgbClr val="D8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6007607"/>
            <a:ext cx="10908792" cy="457200"/>
          </a:xfrm>
          <a:prstGeom prst="rect">
            <a:avLst/>
          </a:prstGeom>
          <a:noFill/>
        </p:spPr>
        <p:txBody>
          <a:bodyPr wrap="square">
            <a:spAutoFit/>
          </a:bodyPr>
          <a:lstStyle/>
          <a:p>
            <a:pPr algn="l"/>
            <a:r>
              <a:rPr sz="1100" b="1">
                <a:solidFill>
                  <a:srgbClr val="0173B2"/>
                </a:solidFill>
                <a:latin typeface="Calibri"/>
              </a:rPr>
              <a:t>WHY IT MATTERS  </a:t>
            </a:r>
            <a:r>
              <a:rPr sz="1350" b="0">
                <a:solidFill>
                  <a:srgbClr val="1A1F2B"/>
                </a:solidFill>
                <a:latin typeface="Calibri"/>
              </a:rPr>
              <a:t>CHARTEVENTS has 330M rows. Reading only four columns and filtering each chunk keeps memory low.</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292608"/>
            <a:ext cx="10908792" cy="274320"/>
          </a:xfrm>
          <a:prstGeom prst="rect">
            <a:avLst/>
          </a:prstGeom>
          <a:noFill/>
        </p:spPr>
        <p:txBody>
          <a:bodyPr wrap="square">
            <a:spAutoFit/>
          </a:bodyPr>
          <a:lstStyle/>
          <a:p>
            <a:pPr algn="l"/>
            <a:r>
              <a:rPr sz="1200" b="1">
                <a:solidFill>
                  <a:srgbClr val="0173B2"/>
                </a:solidFill>
                <a:latin typeface="Calibri"/>
              </a:rPr>
              <a:t>STEP 5 · LABEVENTS</a:t>
            </a:r>
          </a:p>
        </p:txBody>
      </p:sp>
      <p:sp>
        <p:nvSpPr>
          <p:cNvPr id="3" name="TextBox 2"/>
          <p:cNvSpPr txBox="1"/>
          <p:nvPr/>
        </p:nvSpPr>
        <p:spPr>
          <a:xfrm>
            <a:off x="640080" y="566928"/>
            <a:ext cx="10908792" cy="457200"/>
          </a:xfrm>
          <a:prstGeom prst="rect">
            <a:avLst/>
          </a:prstGeom>
          <a:noFill/>
        </p:spPr>
        <p:txBody>
          <a:bodyPr wrap="square">
            <a:spAutoFit/>
          </a:bodyPr>
          <a:lstStyle/>
          <a:p>
            <a:pPr algn="l"/>
            <a:r>
              <a:rPr sz="2500" b="1">
                <a:solidFill>
                  <a:srgbClr val="1A1F2B"/>
                </a:solidFill>
                <a:latin typeface="Calibri"/>
              </a:rPr>
              <a:t>Labs and the feature table</a:t>
            </a:r>
          </a:p>
        </p:txBody>
      </p:sp>
      <p:sp>
        <p:nvSpPr>
          <p:cNvPr id="4" name="Rectangle 3"/>
          <p:cNvSpPr/>
          <p:nvPr/>
        </p:nvSpPr>
        <p:spPr>
          <a:xfrm>
            <a:off x="640080" y="1133856"/>
            <a:ext cx="10908792" cy="9525"/>
          </a:xfrm>
          <a:prstGeom prst="rect">
            <a:avLst/>
          </a:prstGeom>
          <a:solidFill>
            <a:srgbClr val="D8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243584"/>
            <a:ext cx="10908792" cy="393192"/>
          </a:xfrm>
          <a:prstGeom prst="rect">
            <a:avLst/>
          </a:prstGeom>
          <a:noFill/>
        </p:spPr>
        <p:txBody>
          <a:bodyPr wrap="square">
            <a:spAutoFit/>
          </a:bodyPr>
          <a:lstStyle/>
          <a:p>
            <a:pPr algn="l"/>
            <a:r>
              <a:rPr sz="1300" b="0">
                <a:solidFill>
                  <a:srgbClr val="5A6374"/>
                </a:solidFill>
                <a:latin typeface="Calibri"/>
              </a:rPr>
              <a:t>Same idea for 17 labs (6h before ICU admission to hour 24), then everything is joined into one row per stay.</a:t>
            </a:r>
          </a:p>
        </p:txBody>
      </p:sp>
      <p:pic>
        <p:nvPicPr>
          <p:cNvPr id="6" name="Picture 5" descr="cell9_in.png"/>
          <p:cNvPicPr>
            <a:picLocks noChangeAspect="1"/>
          </p:cNvPicPr>
          <p:nvPr/>
        </p:nvPicPr>
        <p:blipFill>
          <a:blip r:embed="rId2"/>
          <a:stretch>
            <a:fillRect/>
          </a:stretch>
        </p:blipFill>
        <p:spPr>
          <a:xfrm>
            <a:off x="640080" y="1828800"/>
            <a:ext cx="5862675" cy="1896493"/>
          </a:xfrm>
          <a:prstGeom prst="rect">
            <a:avLst/>
          </a:prstGeom>
        </p:spPr>
      </p:pic>
      <p:pic>
        <p:nvPicPr>
          <p:cNvPr id="7" name="Picture 6" descr="cell11_in.png"/>
          <p:cNvPicPr>
            <a:picLocks noChangeAspect="1"/>
          </p:cNvPicPr>
          <p:nvPr/>
        </p:nvPicPr>
        <p:blipFill>
          <a:blip r:embed="rId3"/>
          <a:stretch>
            <a:fillRect/>
          </a:stretch>
        </p:blipFill>
        <p:spPr>
          <a:xfrm>
            <a:off x="640080" y="3798445"/>
            <a:ext cx="5862675" cy="1454844"/>
          </a:xfrm>
          <a:prstGeom prst="rect">
            <a:avLst/>
          </a:prstGeom>
        </p:spPr>
      </p:pic>
      <p:pic>
        <p:nvPicPr>
          <p:cNvPr id="8" name="Picture 7" descr="missingness.png"/>
          <p:cNvPicPr>
            <a:picLocks noChangeAspect="1"/>
          </p:cNvPicPr>
          <p:nvPr/>
        </p:nvPicPr>
        <p:blipFill>
          <a:blip r:embed="rId4"/>
          <a:stretch>
            <a:fillRect/>
          </a:stretch>
        </p:blipFill>
        <p:spPr>
          <a:xfrm>
            <a:off x="6777075" y="1828800"/>
            <a:ext cx="4771796" cy="1831896"/>
          </a:xfrm>
          <a:prstGeom prst="rect">
            <a:avLst/>
          </a:prstGeom>
        </p:spPr>
      </p:pic>
      <p:sp>
        <p:nvSpPr>
          <p:cNvPr id="9" name="Rectangle 8"/>
          <p:cNvSpPr/>
          <p:nvPr/>
        </p:nvSpPr>
        <p:spPr>
          <a:xfrm>
            <a:off x="640080" y="5390449"/>
            <a:ext cx="10908792" cy="9525"/>
          </a:xfrm>
          <a:prstGeom prst="rect">
            <a:avLst/>
          </a:prstGeom>
          <a:solidFill>
            <a:srgbClr val="D8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5500177"/>
            <a:ext cx="10908792" cy="457200"/>
          </a:xfrm>
          <a:prstGeom prst="rect">
            <a:avLst/>
          </a:prstGeom>
          <a:noFill/>
        </p:spPr>
        <p:txBody>
          <a:bodyPr wrap="square">
            <a:spAutoFit/>
          </a:bodyPr>
          <a:lstStyle/>
          <a:p>
            <a:pPr algn="l"/>
            <a:r>
              <a:rPr sz="1100" b="1">
                <a:solidFill>
                  <a:srgbClr val="0173B2"/>
                </a:solidFill>
                <a:latin typeface="Calibri"/>
              </a:rPr>
              <a:t>WHY IT MATTERS  </a:t>
            </a:r>
            <a:r>
              <a:rPr sz="1350" b="0">
                <a:solidFill>
                  <a:srgbClr val="1A1F2B"/>
                </a:solidFill>
                <a:latin typeface="Calibri"/>
              </a:rPr>
              <a:t>Missing labs are left as NaN on purpose. Lactate or albumin often isn't measured, and that itself says something.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292608"/>
            <a:ext cx="10908792" cy="274320"/>
          </a:xfrm>
          <a:prstGeom prst="rect">
            <a:avLst/>
          </a:prstGeom>
          <a:noFill/>
        </p:spPr>
        <p:txBody>
          <a:bodyPr wrap="square">
            <a:spAutoFit/>
          </a:bodyPr>
          <a:lstStyle/>
          <a:p>
            <a:pPr algn="l"/>
            <a:r>
              <a:rPr sz="1200" b="1">
                <a:solidFill>
                  <a:srgbClr val="0173B2"/>
                </a:solidFill>
                <a:latin typeface="Calibri"/>
              </a:rPr>
              <a:t>STEP 6 · SPLIT</a:t>
            </a:r>
          </a:p>
        </p:txBody>
      </p:sp>
      <p:sp>
        <p:nvSpPr>
          <p:cNvPr id="3" name="TextBox 2"/>
          <p:cNvSpPr txBox="1"/>
          <p:nvPr/>
        </p:nvSpPr>
        <p:spPr>
          <a:xfrm>
            <a:off x="640080" y="566928"/>
            <a:ext cx="10908792" cy="457200"/>
          </a:xfrm>
          <a:prstGeom prst="rect">
            <a:avLst/>
          </a:prstGeom>
          <a:noFill/>
        </p:spPr>
        <p:txBody>
          <a:bodyPr wrap="square">
            <a:spAutoFit/>
          </a:bodyPr>
          <a:lstStyle/>
          <a:p>
            <a:pPr algn="l"/>
            <a:r>
              <a:rPr sz="2500" b="1">
                <a:solidFill>
                  <a:srgbClr val="1A1F2B"/>
                </a:solidFill>
                <a:latin typeface="Calibri"/>
              </a:rPr>
              <a:t>Train / validation / test</a:t>
            </a:r>
          </a:p>
        </p:txBody>
      </p:sp>
      <p:sp>
        <p:nvSpPr>
          <p:cNvPr id="4" name="Rectangle 3"/>
          <p:cNvSpPr/>
          <p:nvPr/>
        </p:nvSpPr>
        <p:spPr>
          <a:xfrm>
            <a:off x="640080" y="1133856"/>
            <a:ext cx="10908792" cy="9525"/>
          </a:xfrm>
          <a:prstGeom prst="rect">
            <a:avLst/>
          </a:prstGeom>
          <a:solidFill>
            <a:srgbClr val="D8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243584"/>
            <a:ext cx="10908792" cy="393192"/>
          </a:xfrm>
          <a:prstGeom prst="rect">
            <a:avLst/>
          </a:prstGeom>
          <a:noFill/>
        </p:spPr>
        <p:txBody>
          <a:bodyPr wrap="square">
            <a:spAutoFit/>
          </a:bodyPr>
          <a:lstStyle/>
          <a:p>
            <a:pPr algn="l"/>
            <a:r>
              <a:rPr sz="1300" b="0">
                <a:solidFill>
                  <a:srgbClr val="5A6374"/>
                </a:solidFill>
                <a:latin typeface="Calibri"/>
              </a:rPr>
              <a:t>70 / 15 / 15, stratified so each set has the same mortality rate.</a:t>
            </a:r>
          </a:p>
        </p:txBody>
      </p:sp>
      <p:pic>
        <p:nvPicPr>
          <p:cNvPr id="6" name="Picture 5" descr="cell13_in.png"/>
          <p:cNvPicPr>
            <a:picLocks noChangeAspect="1"/>
          </p:cNvPicPr>
          <p:nvPr/>
        </p:nvPicPr>
        <p:blipFill>
          <a:blip r:embed="rId2"/>
          <a:stretch>
            <a:fillRect/>
          </a:stretch>
        </p:blipFill>
        <p:spPr>
          <a:xfrm>
            <a:off x="640080" y="1828800"/>
            <a:ext cx="10908792" cy="1611342"/>
          </a:xfrm>
          <a:prstGeom prst="rect">
            <a:avLst/>
          </a:prstGeom>
        </p:spPr>
      </p:pic>
      <p:pic>
        <p:nvPicPr>
          <p:cNvPr id="7" name="Picture 6" descr="cell13_out0.png"/>
          <p:cNvPicPr>
            <a:picLocks noChangeAspect="1"/>
          </p:cNvPicPr>
          <p:nvPr/>
        </p:nvPicPr>
        <p:blipFill>
          <a:blip r:embed="rId3"/>
          <a:stretch>
            <a:fillRect/>
          </a:stretch>
        </p:blipFill>
        <p:spPr>
          <a:xfrm>
            <a:off x="640080" y="3513294"/>
            <a:ext cx="2972927" cy="418949"/>
          </a:xfrm>
          <a:prstGeom prst="rect">
            <a:avLst/>
          </a:prstGeom>
        </p:spPr>
      </p:pic>
      <p:sp>
        <p:nvSpPr>
          <p:cNvPr id="8" name="Rectangle 7"/>
          <p:cNvSpPr/>
          <p:nvPr/>
        </p:nvSpPr>
        <p:spPr>
          <a:xfrm>
            <a:off x="640080" y="4069403"/>
            <a:ext cx="10908792" cy="9525"/>
          </a:xfrm>
          <a:prstGeom prst="rect">
            <a:avLst/>
          </a:prstGeom>
          <a:solidFill>
            <a:srgbClr val="D8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4179131"/>
            <a:ext cx="10908792" cy="457200"/>
          </a:xfrm>
          <a:prstGeom prst="rect">
            <a:avLst/>
          </a:prstGeom>
          <a:noFill/>
        </p:spPr>
        <p:txBody>
          <a:bodyPr wrap="square">
            <a:spAutoFit/>
          </a:bodyPr>
          <a:lstStyle/>
          <a:p>
            <a:pPr algn="l"/>
            <a:r>
              <a:rPr sz="1100" b="1">
                <a:solidFill>
                  <a:srgbClr val="0173B2"/>
                </a:solidFill>
                <a:latin typeface="Calibri"/>
              </a:rPr>
              <a:t>WHY IT MATTERS  </a:t>
            </a:r>
            <a:r>
              <a:rPr sz="1350" b="0">
                <a:solidFill>
                  <a:srgbClr val="1A1F2B"/>
                </a:solidFill>
                <a:latin typeface="Calibri"/>
              </a:rPr>
              <a:t>The validation set picks hyperparameters and fusion weights. The test set is only used once at the end.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292608"/>
            <a:ext cx="10908792" cy="274320"/>
          </a:xfrm>
          <a:prstGeom prst="rect">
            <a:avLst/>
          </a:prstGeom>
          <a:noFill/>
        </p:spPr>
        <p:txBody>
          <a:bodyPr wrap="square">
            <a:spAutoFit/>
          </a:bodyPr>
          <a:lstStyle/>
          <a:p>
            <a:pPr algn="l"/>
            <a:r>
              <a:rPr sz="1200" b="1">
                <a:solidFill>
                  <a:srgbClr val="0173B2"/>
                </a:solidFill>
                <a:latin typeface="Calibri"/>
              </a:rPr>
              <a:t>STEP 7 · STRUCTURED BASELINES</a:t>
            </a:r>
          </a:p>
        </p:txBody>
      </p:sp>
      <p:sp>
        <p:nvSpPr>
          <p:cNvPr id="3" name="TextBox 2"/>
          <p:cNvSpPr txBox="1"/>
          <p:nvPr/>
        </p:nvSpPr>
        <p:spPr>
          <a:xfrm>
            <a:off x="640080" y="566928"/>
            <a:ext cx="10908792" cy="457200"/>
          </a:xfrm>
          <a:prstGeom prst="rect">
            <a:avLst/>
          </a:prstGeom>
          <a:noFill/>
        </p:spPr>
        <p:txBody>
          <a:bodyPr wrap="square">
            <a:spAutoFit/>
          </a:bodyPr>
          <a:lstStyle/>
          <a:p>
            <a:pPr algn="l"/>
            <a:r>
              <a:rPr sz="2500" b="1">
                <a:solidFill>
                  <a:srgbClr val="1A1F2B"/>
                </a:solidFill>
                <a:latin typeface="Calibri"/>
              </a:rPr>
              <a:t>Logistic regression and gradient boosting</a:t>
            </a:r>
          </a:p>
        </p:txBody>
      </p:sp>
      <p:sp>
        <p:nvSpPr>
          <p:cNvPr id="4" name="Rectangle 3"/>
          <p:cNvSpPr/>
          <p:nvPr/>
        </p:nvSpPr>
        <p:spPr>
          <a:xfrm>
            <a:off x="640080" y="1133856"/>
            <a:ext cx="10908792" cy="9525"/>
          </a:xfrm>
          <a:prstGeom prst="rect">
            <a:avLst/>
          </a:prstGeom>
          <a:solidFill>
            <a:srgbClr val="D8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243584"/>
            <a:ext cx="10908792" cy="393192"/>
          </a:xfrm>
          <a:prstGeom prst="rect">
            <a:avLst/>
          </a:prstGeom>
          <a:noFill/>
        </p:spPr>
        <p:txBody>
          <a:bodyPr wrap="square">
            <a:spAutoFit/>
          </a:bodyPr>
          <a:lstStyle/>
          <a:p>
            <a:pPr algn="l"/>
            <a:r>
              <a:rPr sz="1300" b="0">
                <a:solidFill>
                  <a:srgbClr val="5A6374"/>
                </a:solidFill>
                <a:latin typeface="Calibri"/>
              </a:rPr>
              <a:t>Logistic regression needs imputing and scaling first. Gradient boosting handles NaN by itself.</a:t>
            </a:r>
          </a:p>
        </p:txBody>
      </p:sp>
      <p:pic>
        <p:nvPicPr>
          <p:cNvPr id="6" name="Picture 5" descr="cell15_in.png"/>
          <p:cNvPicPr>
            <a:picLocks noChangeAspect="1"/>
          </p:cNvPicPr>
          <p:nvPr/>
        </p:nvPicPr>
        <p:blipFill>
          <a:blip r:embed="rId2"/>
          <a:stretch>
            <a:fillRect/>
          </a:stretch>
        </p:blipFill>
        <p:spPr>
          <a:xfrm>
            <a:off x="640080" y="1828800"/>
            <a:ext cx="10908792" cy="1337414"/>
          </a:xfrm>
          <a:prstGeom prst="rect">
            <a:avLst/>
          </a:prstGeom>
        </p:spPr>
      </p:pic>
      <p:pic>
        <p:nvPicPr>
          <p:cNvPr id="7" name="Picture 6" descr="cell15_out0.png"/>
          <p:cNvPicPr>
            <a:picLocks noChangeAspect="1"/>
          </p:cNvPicPr>
          <p:nvPr/>
        </p:nvPicPr>
        <p:blipFill>
          <a:blip r:embed="rId3"/>
          <a:stretch>
            <a:fillRect/>
          </a:stretch>
        </p:blipFill>
        <p:spPr>
          <a:xfrm>
            <a:off x="640080" y="3239366"/>
            <a:ext cx="4350626" cy="145020"/>
          </a:xfrm>
          <a:prstGeom prst="rect">
            <a:avLst/>
          </a:prstGeom>
        </p:spPr>
      </p:pic>
      <p:pic>
        <p:nvPicPr>
          <p:cNvPr id="8" name="Picture 7" descr="cell15_out1.png"/>
          <p:cNvPicPr>
            <a:picLocks noChangeAspect="1"/>
          </p:cNvPicPr>
          <p:nvPr/>
        </p:nvPicPr>
        <p:blipFill>
          <a:blip r:embed="rId4"/>
          <a:stretch>
            <a:fillRect/>
          </a:stretch>
        </p:blipFill>
        <p:spPr>
          <a:xfrm>
            <a:off x="640080" y="3457538"/>
            <a:ext cx="4350626" cy="145020"/>
          </a:xfrm>
          <a:prstGeom prst="rect">
            <a:avLst/>
          </a:prstGeom>
        </p:spPr>
      </p:pic>
      <p:sp>
        <p:nvSpPr>
          <p:cNvPr id="9" name="Rectangle 8"/>
          <p:cNvSpPr/>
          <p:nvPr/>
        </p:nvSpPr>
        <p:spPr>
          <a:xfrm>
            <a:off x="640080" y="3739718"/>
            <a:ext cx="10908792" cy="9525"/>
          </a:xfrm>
          <a:prstGeom prst="rect">
            <a:avLst/>
          </a:prstGeom>
          <a:solidFill>
            <a:srgbClr val="D8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849446"/>
            <a:ext cx="10908792" cy="457200"/>
          </a:xfrm>
          <a:prstGeom prst="rect">
            <a:avLst/>
          </a:prstGeom>
          <a:noFill/>
        </p:spPr>
        <p:txBody>
          <a:bodyPr wrap="square">
            <a:spAutoFit/>
          </a:bodyPr>
          <a:lstStyle/>
          <a:p>
            <a:pPr algn="l"/>
            <a:r>
              <a:rPr sz="1100" b="1">
                <a:solidFill>
                  <a:srgbClr val="0173B2"/>
                </a:solidFill>
                <a:latin typeface="Calibri"/>
              </a:rPr>
              <a:t>WHY IT MATTERS  </a:t>
            </a:r>
            <a:r>
              <a:rPr sz="1350" b="0">
                <a:solidFill>
                  <a:srgbClr val="1A1F2B"/>
                </a:solidFill>
                <a:latin typeface="Calibri"/>
              </a:rPr>
              <a:t>Gradient boosting wins on validation (AUROC 0.890 vs 0.868). It can learn that both very low and very high values are bad, which a linear model can't.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292608"/>
            <a:ext cx="10908792" cy="274320"/>
          </a:xfrm>
          <a:prstGeom prst="rect">
            <a:avLst/>
          </a:prstGeom>
          <a:noFill/>
        </p:spPr>
        <p:txBody>
          <a:bodyPr wrap="square">
            <a:spAutoFit/>
          </a:bodyPr>
          <a:lstStyle/>
          <a:p>
            <a:pPr algn="l"/>
            <a:r>
              <a:rPr sz="1200" b="1">
                <a:solidFill>
                  <a:srgbClr val="0173B2"/>
                </a:solidFill>
                <a:latin typeface="Calibri"/>
              </a:rPr>
              <a:t>STEP 8 · NOTES BASELINE</a:t>
            </a:r>
          </a:p>
        </p:txBody>
      </p:sp>
      <p:sp>
        <p:nvSpPr>
          <p:cNvPr id="3" name="TextBox 2"/>
          <p:cNvSpPr txBox="1"/>
          <p:nvPr/>
        </p:nvSpPr>
        <p:spPr>
          <a:xfrm>
            <a:off x="640080" y="566928"/>
            <a:ext cx="10908792" cy="457200"/>
          </a:xfrm>
          <a:prstGeom prst="rect">
            <a:avLst/>
          </a:prstGeom>
          <a:noFill/>
        </p:spPr>
        <p:txBody>
          <a:bodyPr wrap="square">
            <a:spAutoFit/>
          </a:bodyPr>
          <a:lstStyle/>
          <a:p>
            <a:pPr algn="l"/>
            <a:r>
              <a:rPr sz="2500" b="1">
                <a:solidFill>
                  <a:srgbClr val="1A1F2B"/>
                </a:solidFill>
                <a:latin typeface="Calibri"/>
              </a:rPr>
              <a:t>TF-IDF + logistic regression</a:t>
            </a:r>
          </a:p>
        </p:txBody>
      </p:sp>
      <p:sp>
        <p:nvSpPr>
          <p:cNvPr id="4" name="Rectangle 3"/>
          <p:cNvSpPr/>
          <p:nvPr/>
        </p:nvSpPr>
        <p:spPr>
          <a:xfrm>
            <a:off x="640080" y="1133856"/>
            <a:ext cx="10908792" cy="9525"/>
          </a:xfrm>
          <a:prstGeom prst="rect">
            <a:avLst/>
          </a:prstGeom>
          <a:solidFill>
            <a:srgbClr val="D8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243584"/>
            <a:ext cx="10908792" cy="393192"/>
          </a:xfrm>
          <a:prstGeom prst="rect">
            <a:avLst/>
          </a:prstGeom>
          <a:noFill/>
        </p:spPr>
        <p:txBody>
          <a:bodyPr wrap="square">
            <a:spAutoFit/>
          </a:bodyPr>
          <a:lstStyle/>
          <a:p>
            <a:pPr algn="l"/>
            <a:r>
              <a:rPr sz="1300" b="0">
                <a:solidFill>
                  <a:srgbClr val="5A6374"/>
                </a:solidFill>
                <a:latin typeface="Calibri"/>
              </a:rPr>
              <a:t>Joins each stay's notes into one document, builds a TF-IDF matrix of words and word pairs, and tunes C on validation.</a:t>
            </a:r>
          </a:p>
        </p:txBody>
      </p:sp>
      <p:pic>
        <p:nvPicPr>
          <p:cNvPr id="6" name="Picture 5" descr="cell17_in.png"/>
          <p:cNvPicPr>
            <a:picLocks noChangeAspect="1"/>
          </p:cNvPicPr>
          <p:nvPr/>
        </p:nvPicPr>
        <p:blipFill>
          <a:blip r:embed="rId2"/>
          <a:stretch>
            <a:fillRect/>
          </a:stretch>
        </p:blipFill>
        <p:spPr>
          <a:xfrm>
            <a:off x="640080" y="1828800"/>
            <a:ext cx="10908792" cy="1611342"/>
          </a:xfrm>
          <a:prstGeom prst="rect">
            <a:avLst/>
          </a:prstGeom>
        </p:spPr>
      </p:pic>
      <p:pic>
        <p:nvPicPr>
          <p:cNvPr id="7" name="Picture 6" descr="cell17_out0.png"/>
          <p:cNvPicPr>
            <a:picLocks noChangeAspect="1"/>
          </p:cNvPicPr>
          <p:nvPr/>
        </p:nvPicPr>
        <p:blipFill>
          <a:blip r:embed="rId3"/>
          <a:stretch>
            <a:fillRect/>
          </a:stretch>
        </p:blipFill>
        <p:spPr>
          <a:xfrm>
            <a:off x="640080" y="3513294"/>
            <a:ext cx="2082660" cy="145020"/>
          </a:xfrm>
          <a:prstGeom prst="rect">
            <a:avLst/>
          </a:prstGeom>
        </p:spPr>
      </p:pic>
      <p:pic>
        <p:nvPicPr>
          <p:cNvPr id="8" name="Picture 7" descr="cell17_out1.png"/>
          <p:cNvPicPr>
            <a:picLocks noChangeAspect="1"/>
          </p:cNvPicPr>
          <p:nvPr/>
        </p:nvPicPr>
        <p:blipFill>
          <a:blip r:embed="rId4"/>
          <a:stretch>
            <a:fillRect/>
          </a:stretch>
        </p:blipFill>
        <p:spPr>
          <a:xfrm>
            <a:off x="640080" y="3731466"/>
            <a:ext cx="2082660" cy="145020"/>
          </a:xfrm>
          <a:prstGeom prst="rect">
            <a:avLst/>
          </a:prstGeom>
        </p:spPr>
      </p:pic>
      <p:pic>
        <p:nvPicPr>
          <p:cNvPr id="9" name="Picture 8" descr="cell17_out2.png"/>
          <p:cNvPicPr>
            <a:picLocks noChangeAspect="1"/>
          </p:cNvPicPr>
          <p:nvPr/>
        </p:nvPicPr>
        <p:blipFill>
          <a:blip r:embed="rId5"/>
          <a:stretch>
            <a:fillRect/>
          </a:stretch>
        </p:blipFill>
        <p:spPr>
          <a:xfrm>
            <a:off x="640080" y="3949638"/>
            <a:ext cx="2082660" cy="145020"/>
          </a:xfrm>
          <a:prstGeom prst="rect">
            <a:avLst/>
          </a:prstGeom>
        </p:spPr>
      </p:pic>
      <p:pic>
        <p:nvPicPr>
          <p:cNvPr id="10" name="Picture 9" descr="cell17_out3.png"/>
          <p:cNvPicPr>
            <a:picLocks noChangeAspect="1"/>
          </p:cNvPicPr>
          <p:nvPr/>
        </p:nvPicPr>
        <p:blipFill>
          <a:blip r:embed="rId6"/>
          <a:stretch>
            <a:fillRect/>
          </a:stretch>
        </p:blipFill>
        <p:spPr>
          <a:xfrm>
            <a:off x="640080" y="4167810"/>
            <a:ext cx="2082660" cy="145020"/>
          </a:xfrm>
          <a:prstGeom prst="rect">
            <a:avLst/>
          </a:prstGeom>
        </p:spPr>
      </p:pic>
      <p:pic>
        <p:nvPicPr>
          <p:cNvPr id="11" name="Picture 10" descr="cell18_in.png"/>
          <p:cNvPicPr>
            <a:picLocks noChangeAspect="1"/>
          </p:cNvPicPr>
          <p:nvPr/>
        </p:nvPicPr>
        <p:blipFill>
          <a:blip r:embed="rId7"/>
          <a:stretch>
            <a:fillRect/>
          </a:stretch>
        </p:blipFill>
        <p:spPr>
          <a:xfrm>
            <a:off x="640080" y="4385982"/>
            <a:ext cx="10908792" cy="378665"/>
          </a:xfrm>
          <a:prstGeom prst="rect">
            <a:avLst/>
          </a:prstGeom>
        </p:spPr>
      </p:pic>
      <p:pic>
        <p:nvPicPr>
          <p:cNvPr id="12" name="Picture 11" descr="cell18_out0.png"/>
          <p:cNvPicPr>
            <a:picLocks noChangeAspect="1"/>
          </p:cNvPicPr>
          <p:nvPr/>
        </p:nvPicPr>
        <p:blipFill>
          <a:blip r:embed="rId8"/>
          <a:stretch>
            <a:fillRect/>
          </a:stretch>
        </p:blipFill>
        <p:spPr>
          <a:xfrm>
            <a:off x="640080" y="4837799"/>
            <a:ext cx="4350626" cy="145020"/>
          </a:xfrm>
          <a:prstGeom prst="rect">
            <a:avLst/>
          </a:prstGeom>
        </p:spPr>
      </p:pic>
      <p:sp>
        <p:nvSpPr>
          <p:cNvPr id="13" name="Rectangle 12"/>
          <p:cNvSpPr/>
          <p:nvPr/>
        </p:nvSpPr>
        <p:spPr>
          <a:xfrm>
            <a:off x="640080" y="5119979"/>
            <a:ext cx="10908792" cy="9525"/>
          </a:xfrm>
          <a:prstGeom prst="rect">
            <a:avLst/>
          </a:prstGeom>
          <a:solidFill>
            <a:srgbClr val="D8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5229707"/>
            <a:ext cx="10908792" cy="457200"/>
          </a:xfrm>
          <a:prstGeom prst="rect">
            <a:avLst/>
          </a:prstGeom>
          <a:noFill/>
        </p:spPr>
        <p:txBody>
          <a:bodyPr wrap="square">
            <a:spAutoFit/>
          </a:bodyPr>
          <a:lstStyle/>
          <a:p>
            <a:pPr algn="l"/>
            <a:r>
              <a:rPr sz="1100" b="1">
                <a:solidFill>
                  <a:srgbClr val="0173B2"/>
                </a:solidFill>
                <a:latin typeface="Calibri"/>
              </a:rPr>
              <a:t>WHY IT MATTERS  </a:t>
            </a:r>
            <a:r>
              <a:rPr sz="1350" b="0">
                <a:solidFill>
                  <a:srgbClr val="1A1F2B"/>
                </a:solidFill>
                <a:latin typeface="Calibri"/>
              </a:rPr>
              <a:t>Plain bag-of-words on the notes gets a validation AUROC of 0.879, almost as good as all the vitals and labs.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292608"/>
            <a:ext cx="10908792" cy="274320"/>
          </a:xfrm>
          <a:prstGeom prst="rect">
            <a:avLst/>
          </a:prstGeom>
          <a:noFill/>
        </p:spPr>
        <p:txBody>
          <a:bodyPr wrap="square">
            <a:spAutoFit/>
          </a:bodyPr>
          <a:lstStyle/>
          <a:p>
            <a:pPr algn="l"/>
            <a:r>
              <a:rPr sz="1200" b="1">
                <a:solidFill>
                  <a:srgbClr val="0173B2"/>
                </a:solidFill>
                <a:latin typeface="Calibri"/>
              </a:rPr>
              <a:t>STEP 9 · BIO_CLINICALBERT</a:t>
            </a:r>
          </a:p>
        </p:txBody>
      </p:sp>
      <p:sp>
        <p:nvSpPr>
          <p:cNvPr id="3" name="TextBox 2"/>
          <p:cNvSpPr txBox="1"/>
          <p:nvPr/>
        </p:nvSpPr>
        <p:spPr>
          <a:xfrm>
            <a:off x="640080" y="566928"/>
            <a:ext cx="10908792" cy="457200"/>
          </a:xfrm>
          <a:prstGeom prst="rect">
            <a:avLst/>
          </a:prstGeom>
          <a:noFill/>
        </p:spPr>
        <p:txBody>
          <a:bodyPr wrap="square">
            <a:spAutoFit/>
          </a:bodyPr>
          <a:lstStyle/>
          <a:p>
            <a:pPr algn="l"/>
            <a:r>
              <a:rPr sz="2500" b="1">
                <a:solidFill>
                  <a:srgbClr val="1A1F2B"/>
                </a:solidFill>
                <a:latin typeface="Calibri"/>
              </a:rPr>
              <a:t>Turning notes into vectors</a:t>
            </a:r>
          </a:p>
        </p:txBody>
      </p:sp>
      <p:sp>
        <p:nvSpPr>
          <p:cNvPr id="4" name="Rectangle 3"/>
          <p:cNvSpPr/>
          <p:nvPr/>
        </p:nvSpPr>
        <p:spPr>
          <a:xfrm>
            <a:off x="640080" y="1133856"/>
            <a:ext cx="10908792" cy="9525"/>
          </a:xfrm>
          <a:prstGeom prst="rect">
            <a:avLst/>
          </a:prstGeom>
          <a:solidFill>
            <a:srgbClr val="D8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243584"/>
            <a:ext cx="10908792" cy="393192"/>
          </a:xfrm>
          <a:prstGeom prst="rect">
            <a:avLst/>
          </a:prstGeom>
          <a:noFill/>
        </p:spPr>
        <p:txBody>
          <a:bodyPr wrap="square">
            <a:spAutoFit/>
          </a:bodyPr>
          <a:lstStyle/>
          <a:p>
            <a:pPr algn="l"/>
            <a:r>
              <a:rPr sz="1300" b="0">
                <a:solidFill>
                  <a:srgbClr val="5A6374"/>
                </a:solidFill>
                <a:latin typeface="Calibri"/>
              </a:rPr>
              <a:t>Splits each document into 512-token chunks, runs them through ClinicalBERT and averages the token vectors.</a:t>
            </a:r>
          </a:p>
        </p:txBody>
      </p:sp>
      <p:pic>
        <p:nvPicPr>
          <p:cNvPr id="6" name="Picture 5" descr="cell20_in.png"/>
          <p:cNvPicPr>
            <a:picLocks noChangeAspect="1"/>
          </p:cNvPicPr>
          <p:nvPr/>
        </p:nvPicPr>
        <p:blipFill>
          <a:blip r:embed="rId2"/>
          <a:stretch>
            <a:fillRect/>
          </a:stretch>
        </p:blipFill>
        <p:spPr>
          <a:xfrm>
            <a:off x="640080" y="1828800"/>
            <a:ext cx="6408115" cy="3440693"/>
          </a:xfrm>
          <a:prstGeom prst="rect">
            <a:avLst/>
          </a:prstGeom>
        </p:spPr>
      </p:pic>
      <p:pic>
        <p:nvPicPr>
          <p:cNvPr id="7" name="Picture 6" descr="cell20_out0.png"/>
          <p:cNvPicPr>
            <a:picLocks noChangeAspect="1"/>
          </p:cNvPicPr>
          <p:nvPr/>
        </p:nvPicPr>
        <p:blipFill>
          <a:blip r:embed="rId3"/>
          <a:stretch>
            <a:fillRect/>
          </a:stretch>
        </p:blipFill>
        <p:spPr>
          <a:xfrm>
            <a:off x="7322515" y="1828800"/>
            <a:ext cx="1000404" cy="56184"/>
          </a:xfrm>
          <a:prstGeom prst="rect">
            <a:avLst/>
          </a:prstGeom>
        </p:spPr>
      </p:pic>
      <p:pic>
        <p:nvPicPr>
          <p:cNvPr id="8" name="Picture 7" descr="cell20_out1.png"/>
          <p:cNvPicPr>
            <a:picLocks noChangeAspect="1"/>
          </p:cNvPicPr>
          <p:nvPr/>
        </p:nvPicPr>
        <p:blipFill>
          <a:blip r:embed="rId4"/>
          <a:stretch>
            <a:fillRect/>
          </a:stretch>
        </p:blipFill>
        <p:spPr>
          <a:xfrm>
            <a:off x="7322515" y="1958136"/>
            <a:ext cx="733525" cy="56184"/>
          </a:xfrm>
          <a:prstGeom prst="rect">
            <a:avLst/>
          </a:prstGeom>
        </p:spPr>
      </p:pic>
      <p:pic>
        <p:nvPicPr>
          <p:cNvPr id="9" name="Picture 8" descr="cell21_in.png"/>
          <p:cNvPicPr>
            <a:picLocks noChangeAspect="1"/>
          </p:cNvPicPr>
          <p:nvPr/>
        </p:nvPicPr>
        <p:blipFill>
          <a:blip r:embed="rId5"/>
          <a:stretch>
            <a:fillRect/>
          </a:stretch>
        </p:blipFill>
        <p:spPr>
          <a:xfrm>
            <a:off x="7322515" y="2087472"/>
            <a:ext cx="4226356" cy="358959"/>
          </a:xfrm>
          <a:prstGeom prst="rect">
            <a:avLst/>
          </a:prstGeom>
        </p:spPr>
      </p:pic>
      <p:pic>
        <p:nvPicPr>
          <p:cNvPr id="10" name="Picture 9" descr="cell21_out0.png"/>
          <p:cNvPicPr>
            <a:picLocks noChangeAspect="1"/>
          </p:cNvPicPr>
          <p:nvPr/>
        </p:nvPicPr>
        <p:blipFill>
          <a:blip r:embed="rId6"/>
          <a:stretch>
            <a:fillRect/>
          </a:stretch>
        </p:blipFill>
        <p:spPr>
          <a:xfrm>
            <a:off x="7322515" y="2519583"/>
            <a:ext cx="831849" cy="56184"/>
          </a:xfrm>
          <a:prstGeom prst="rect">
            <a:avLst/>
          </a:prstGeom>
        </p:spPr>
      </p:pic>
      <p:pic>
        <p:nvPicPr>
          <p:cNvPr id="11" name="Picture 10" descr="cell21_out1.png"/>
          <p:cNvPicPr>
            <a:picLocks noChangeAspect="1"/>
          </p:cNvPicPr>
          <p:nvPr/>
        </p:nvPicPr>
        <p:blipFill>
          <a:blip r:embed="rId7"/>
          <a:stretch>
            <a:fillRect/>
          </a:stretch>
        </p:blipFill>
        <p:spPr>
          <a:xfrm>
            <a:off x="7322515" y="2648919"/>
            <a:ext cx="831849" cy="56184"/>
          </a:xfrm>
          <a:prstGeom prst="rect">
            <a:avLst/>
          </a:prstGeom>
        </p:spPr>
      </p:pic>
      <p:pic>
        <p:nvPicPr>
          <p:cNvPr id="12" name="Picture 11" descr="cell21_out2.png"/>
          <p:cNvPicPr>
            <a:picLocks noChangeAspect="1"/>
          </p:cNvPicPr>
          <p:nvPr/>
        </p:nvPicPr>
        <p:blipFill>
          <a:blip r:embed="rId8"/>
          <a:stretch>
            <a:fillRect/>
          </a:stretch>
        </p:blipFill>
        <p:spPr>
          <a:xfrm>
            <a:off x="7322515" y="2778255"/>
            <a:ext cx="831849" cy="56184"/>
          </a:xfrm>
          <a:prstGeom prst="rect">
            <a:avLst/>
          </a:prstGeom>
        </p:spPr>
      </p:pic>
      <p:pic>
        <p:nvPicPr>
          <p:cNvPr id="13" name="Picture 12" descr="cell22_in.png"/>
          <p:cNvPicPr>
            <a:picLocks noChangeAspect="1"/>
          </p:cNvPicPr>
          <p:nvPr/>
        </p:nvPicPr>
        <p:blipFill>
          <a:blip r:embed="rId9"/>
          <a:stretch>
            <a:fillRect/>
          </a:stretch>
        </p:blipFill>
        <p:spPr>
          <a:xfrm>
            <a:off x="7322515" y="2907591"/>
            <a:ext cx="4226356" cy="146705"/>
          </a:xfrm>
          <a:prstGeom prst="rect">
            <a:avLst/>
          </a:prstGeom>
        </p:spPr>
      </p:pic>
      <p:pic>
        <p:nvPicPr>
          <p:cNvPr id="14" name="Picture 13" descr="cell22_out0.png"/>
          <p:cNvPicPr>
            <a:picLocks noChangeAspect="1"/>
          </p:cNvPicPr>
          <p:nvPr/>
        </p:nvPicPr>
        <p:blipFill>
          <a:blip r:embed="rId10"/>
          <a:stretch>
            <a:fillRect/>
          </a:stretch>
        </p:blipFill>
        <p:spPr>
          <a:xfrm>
            <a:off x="7322515" y="3127448"/>
            <a:ext cx="1687108" cy="56184"/>
          </a:xfrm>
          <a:prstGeom prst="rect">
            <a:avLst/>
          </a:prstGeom>
        </p:spPr>
      </p:pic>
      <p:sp>
        <p:nvSpPr>
          <p:cNvPr id="15" name="Rectangle 14"/>
          <p:cNvSpPr/>
          <p:nvPr/>
        </p:nvSpPr>
        <p:spPr>
          <a:xfrm>
            <a:off x="640080" y="5406653"/>
            <a:ext cx="10908792" cy="9525"/>
          </a:xfrm>
          <a:prstGeom prst="rect">
            <a:avLst/>
          </a:prstGeom>
          <a:solidFill>
            <a:srgbClr val="D8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5516381"/>
            <a:ext cx="10908792" cy="457200"/>
          </a:xfrm>
          <a:prstGeom prst="rect">
            <a:avLst/>
          </a:prstGeom>
          <a:noFill/>
        </p:spPr>
        <p:txBody>
          <a:bodyPr wrap="square">
            <a:spAutoFit/>
          </a:bodyPr>
          <a:lstStyle/>
          <a:p>
            <a:pPr algn="l"/>
            <a:r>
              <a:rPr sz="1100" b="1">
                <a:solidFill>
                  <a:srgbClr val="0173B2"/>
                </a:solidFill>
                <a:latin typeface="Calibri"/>
              </a:rPr>
              <a:t>WHY IT MATTERS  </a:t>
            </a:r>
            <a:r>
              <a:rPr sz="1350" b="0">
                <a:solidFill>
                  <a:srgbClr val="1A1F2B"/>
                </a:solidFill>
                <a:latin typeface="Calibri"/>
              </a:rPr>
              <a:t>92,604 chunks embedded in 2.7 minutes on a GPU. But frozen ClinicalBERT only reached 0.821, worse than TF-IDF. Averaging everything into one vector loses detail.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292608"/>
            <a:ext cx="10908792" cy="274320"/>
          </a:xfrm>
          <a:prstGeom prst="rect">
            <a:avLst/>
          </a:prstGeom>
          <a:noFill/>
        </p:spPr>
        <p:txBody>
          <a:bodyPr wrap="square">
            <a:spAutoFit/>
          </a:bodyPr>
          <a:lstStyle/>
          <a:p>
            <a:pPr algn="l"/>
            <a:r>
              <a:rPr sz="1200" b="1">
                <a:solidFill>
                  <a:srgbClr val="0173B2"/>
                </a:solidFill>
                <a:latin typeface="Calibri"/>
              </a:rPr>
              <a:t>STEP 10 · FUSION</a:t>
            </a:r>
          </a:p>
        </p:txBody>
      </p:sp>
      <p:sp>
        <p:nvSpPr>
          <p:cNvPr id="3" name="TextBox 2"/>
          <p:cNvSpPr txBox="1"/>
          <p:nvPr/>
        </p:nvSpPr>
        <p:spPr>
          <a:xfrm>
            <a:off x="640080" y="566928"/>
            <a:ext cx="10908792" cy="457200"/>
          </a:xfrm>
          <a:prstGeom prst="rect">
            <a:avLst/>
          </a:prstGeom>
          <a:noFill/>
        </p:spPr>
        <p:txBody>
          <a:bodyPr wrap="square">
            <a:spAutoFit/>
          </a:bodyPr>
          <a:lstStyle/>
          <a:p>
            <a:pPr algn="l"/>
            <a:r>
              <a:rPr sz="2500" b="1">
                <a:solidFill>
                  <a:srgbClr val="1A1F2B"/>
                </a:solidFill>
                <a:latin typeface="Calibri"/>
              </a:rPr>
              <a:t>Three ways to combine the data</a:t>
            </a:r>
          </a:p>
        </p:txBody>
      </p:sp>
      <p:sp>
        <p:nvSpPr>
          <p:cNvPr id="4" name="Rectangle 3"/>
          <p:cNvSpPr/>
          <p:nvPr/>
        </p:nvSpPr>
        <p:spPr>
          <a:xfrm>
            <a:off x="640080" y="1133856"/>
            <a:ext cx="10908792" cy="9525"/>
          </a:xfrm>
          <a:prstGeom prst="rect">
            <a:avLst/>
          </a:prstGeom>
          <a:solidFill>
            <a:srgbClr val="D8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243584"/>
            <a:ext cx="10908792" cy="393192"/>
          </a:xfrm>
          <a:prstGeom prst="rect">
            <a:avLst/>
          </a:prstGeom>
          <a:noFill/>
        </p:spPr>
        <p:txBody>
          <a:bodyPr wrap="square">
            <a:spAutoFit/>
          </a:bodyPr>
          <a:lstStyle/>
          <a:p>
            <a:pPr algn="l"/>
            <a:r>
              <a:rPr sz="1300" b="0">
                <a:solidFill>
                  <a:srgbClr val="5A6374"/>
                </a:solidFill>
                <a:latin typeface="Calibri"/>
              </a:rPr>
              <a:t>Early fusion joins the features, late fusion averages the predictions, intermediate fusion joins the networks.</a:t>
            </a:r>
          </a:p>
        </p:txBody>
      </p:sp>
      <p:pic>
        <p:nvPicPr>
          <p:cNvPr id="6" name="Picture 5" descr="fusion_types.png"/>
          <p:cNvPicPr>
            <a:picLocks noChangeAspect="1"/>
          </p:cNvPicPr>
          <p:nvPr/>
        </p:nvPicPr>
        <p:blipFill>
          <a:blip r:embed="rId2"/>
          <a:stretch>
            <a:fillRect/>
          </a:stretch>
        </p:blipFill>
        <p:spPr>
          <a:xfrm>
            <a:off x="640080" y="1828800"/>
            <a:ext cx="10908792" cy="3358966"/>
          </a:xfrm>
          <a:prstGeom prst="rect">
            <a:avLst/>
          </a:prstGeom>
        </p:spPr>
      </p:pic>
      <p:sp>
        <p:nvSpPr>
          <p:cNvPr id="7" name="Rectangle 6"/>
          <p:cNvSpPr/>
          <p:nvPr/>
        </p:nvSpPr>
        <p:spPr>
          <a:xfrm>
            <a:off x="640080" y="5324926"/>
            <a:ext cx="10908792" cy="9525"/>
          </a:xfrm>
          <a:prstGeom prst="rect">
            <a:avLst/>
          </a:prstGeom>
          <a:solidFill>
            <a:srgbClr val="D8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5434654"/>
            <a:ext cx="10908792" cy="457200"/>
          </a:xfrm>
          <a:prstGeom prst="rect">
            <a:avLst/>
          </a:prstGeom>
          <a:noFill/>
        </p:spPr>
        <p:txBody>
          <a:bodyPr wrap="square">
            <a:spAutoFit/>
          </a:bodyPr>
          <a:lstStyle/>
          <a:p>
            <a:pPr algn="l"/>
            <a:r>
              <a:rPr sz="1100" b="1">
                <a:solidFill>
                  <a:srgbClr val="0173B2"/>
                </a:solidFill>
                <a:latin typeface="Calibri"/>
              </a:rPr>
              <a:t>WHY IT MATTERS  </a:t>
            </a:r>
            <a:r>
              <a:rPr sz="1350" b="0">
                <a:solidFill>
                  <a:srgbClr val="1A1F2B"/>
                </a:solidFill>
                <a:latin typeface="Calibri"/>
              </a:rPr>
              <a:t>These are the three standard options in the multimodal literature, and they trade simplicity against flexibility.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292608"/>
            <a:ext cx="10908792" cy="274320"/>
          </a:xfrm>
          <a:prstGeom prst="rect">
            <a:avLst/>
          </a:prstGeom>
          <a:noFill/>
        </p:spPr>
        <p:txBody>
          <a:bodyPr wrap="square">
            <a:spAutoFit/>
          </a:bodyPr>
          <a:lstStyle/>
          <a:p>
            <a:pPr algn="l"/>
            <a:r>
              <a:rPr sz="1200" b="1">
                <a:solidFill>
                  <a:srgbClr val="0173B2"/>
                </a:solidFill>
                <a:latin typeface="Calibri"/>
              </a:rPr>
              <a:t>STEP 11 · EARLY + LATE FUSION</a:t>
            </a:r>
          </a:p>
        </p:txBody>
      </p:sp>
      <p:sp>
        <p:nvSpPr>
          <p:cNvPr id="3" name="TextBox 2"/>
          <p:cNvSpPr txBox="1"/>
          <p:nvPr/>
        </p:nvSpPr>
        <p:spPr>
          <a:xfrm>
            <a:off x="640080" y="566928"/>
            <a:ext cx="10908792" cy="457200"/>
          </a:xfrm>
          <a:prstGeom prst="rect">
            <a:avLst/>
          </a:prstGeom>
          <a:noFill/>
        </p:spPr>
        <p:txBody>
          <a:bodyPr wrap="square">
            <a:spAutoFit/>
          </a:bodyPr>
          <a:lstStyle/>
          <a:p>
            <a:pPr algn="l"/>
            <a:r>
              <a:rPr sz="2500" b="1">
                <a:solidFill>
                  <a:srgbClr val="1A1F2B"/>
                </a:solidFill>
                <a:latin typeface="Calibri"/>
              </a:rPr>
              <a:t>Early and late fusion</a:t>
            </a:r>
          </a:p>
        </p:txBody>
      </p:sp>
      <p:sp>
        <p:nvSpPr>
          <p:cNvPr id="4" name="Rectangle 3"/>
          <p:cNvSpPr/>
          <p:nvPr/>
        </p:nvSpPr>
        <p:spPr>
          <a:xfrm>
            <a:off x="640080" y="1133856"/>
            <a:ext cx="10908792" cy="9525"/>
          </a:xfrm>
          <a:prstGeom prst="rect">
            <a:avLst/>
          </a:prstGeom>
          <a:solidFill>
            <a:srgbClr val="D8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243584"/>
            <a:ext cx="10908792" cy="393192"/>
          </a:xfrm>
          <a:prstGeom prst="rect">
            <a:avLst/>
          </a:prstGeom>
          <a:noFill/>
        </p:spPr>
        <p:txBody>
          <a:bodyPr wrap="square">
            <a:spAutoFit/>
          </a:bodyPr>
          <a:lstStyle/>
          <a:p>
            <a:pPr algn="l"/>
            <a:r>
              <a:rPr sz="1300" b="0">
                <a:solidFill>
                  <a:srgbClr val="5A6374"/>
                </a:solidFill>
                <a:latin typeface="Calibri"/>
              </a:rPr>
              <a:t>Gradient boosting on structured features + 64 PCA components, and a weighted average with the weight tuned on validation.</a:t>
            </a:r>
          </a:p>
        </p:txBody>
      </p:sp>
      <p:pic>
        <p:nvPicPr>
          <p:cNvPr id="6" name="Picture 5" descr="cell24_in.png"/>
          <p:cNvPicPr>
            <a:picLocks noChangeAspect="1"/>
          </p:cNvPicPr>
          <p:nvPr/>
        </p:nvPicPr>
        <p:blipFill>
          <a:blip r:embed="rId2"/>
          <a:stretch>
            <a:fillRect/>
          </a:stretch>
        </p:blipFill>
        <p:spPr>
          <a:xfrm>
            <a:off x="640080" y="1828800"/>
            <a:ext cx="6626291" cy="729185"/>
          </a:xfrm>
          <a:prstGeom prst="rect">
            <a:avLst/>
          </a:prstGeom>
        </p:spPr>
      </p:pic>
      <p:pic>
        <p:nvPicPr>
          <p:cNvPr id="7" name="Picture 6" descr="cell24_out0.png"/>
          <p:cNvPicPr>
            <a:picLocks noChangeAspect="1"/>
          </p:cNvPicPr>
          <p:nvPr/>
        </p:nvPicPr>
        <p:blipFill>
          <a:blip r:embed="rId3"/>
          <a:stretch>
            <a:fillRect/>
          </a:stretch>
        </p:blipFill>
        <p:spPr>
          <a:xfrm>
            <a:off x="640080" y="2631137"/>
            <a:ext cx="2415121" cy="88089"/>
          </a:xfrm>
          <a:prstGeom prst="rect">
            <a:avLst/>
          </a:prstGeom>
        </p:spPr>
      </p:pic>
      <p:pic>
        <p:nvPicPr>
          <p:cNvPr id="8" name="Picture 7" descr="cell24_out1.png"/>
          <p:cNvPicPr>
            <a:picLocks noChangeAspect="1"/>
          </p:cNvPicPr>
          <p:nvPr/>
        </p:nvPicPr>
        <p:blipFill>
          <a:blip r:embed="rId4"/>
          <a:stretch>
            <a:fillRect/>
          </a:stretch>
        </p:blipFill>
        <p:spPr>
          <a:xfrm>
            <a:off x="640080" y="2792378"/>
            <a:ext cx="2642686" cy="88089"/>
          </a:xfrm>
          <a:prstGeom prst="rect">
            <a:avLst/>
          </a:prstGeom>
        </p:spPr>
      </p:pic>
      <p:pic>
        <p:nvPicPr>
          <p:cNvPr id="9" name="Picture 8" descr="cell25_in.png"/>
          <p:cNvPicPr>
            <a:picLocks noChangeAspect="1"/>
          </p:cNvPicPr>
          <p:nvPr/>
        </p:nvPicPr>
        <p:blipFill>
          <a:blip r:embed="rId5"/>
          <a:stretch>
            <a:fillRect/>
          </a:stretch>
        </p:blipFill>
        <p:spPr>
          <a:xfrm>
            <a:off x="640080" y="2953619"/>
            <a:ext cx="6626291" cy="1061968"/>
          </a:xfrm>
          <a:prstGeom prst="rect">
            <a:avLst/>
          </a:prstGeom>
        </p:spPr>
      </p:pic>
      <p:pic>
        <p:nvPicPr>
          <p:cNvPr id="10" name="Picture 9" descr="cell25_out1.png"/>
          <p:cNvPicPr>
            <a:picLocks noChangeAspect="1"/>
          </p:cNvPicPr>
          <p:nvPr/>
        </p:nvPicPr>
        <p:blipFill>
          <a:blip r:embed="rId6"/>
          <a:stretch>
            <a:fillRect/>
          </a:stretch>
        </p:blipFill>
        <p:spPr>
          <a:xfrm>
            <a:off x="640080" y="4088739"/>
            <a:ext cx="2645133" cy="88089"/>
          </a:xfrm>
          <a:prstGeom prst="rect">
            <a:avLst/>
          </a:prstGeom>
        </p:spPr>
      </p:pic>
      <p:pic>
        <p:nvPicPr>
          <p:cNvPr id="11" name="Picture 10" descr="late_fusion_weight.png"/>
          <p:cNvPicPr>
            <a:picLocks noChangeAspect="1"/>
          </p:cNvPicPr>
          <p:nvPr/>
        </p:nvPicPr>
        <p:blipFill>
          <a:blip r:embed="rId7"/>
          <a:stretch>
            <a:fillRect/>
          </a:stretch>
        </p:blipFill>
        <p:spPr>
          <a:xfrm>
            <a:off x="7540691" y="1828800"/>
            <a:ext cx="4008180" cy="2451956"/>
          </a:xfrm>
          <a:prstGeom prst="rect">
            <a:avLst/>
          </a:prstGeom>
        </p:spPr>
      </p:pic>
      <p:sp>
        <p:nvSpPr>
          <p:cNvPr id="12" name="Rectangle 11"/>
          <p:cNvSpPr/>
          <p:nvPr/>
        </p:nvSpPr>
        <p:spPr>
          <a:xfrm>
            <a:off x="640080" y="4417916"/>
            <a:ext cx="10908792" cy="9525"/>
          </a:xfrm>
          <a:prstGeom prst="rect">
            <a:avLst/>
          </a:prstGeom>
          <a:solidFill>
            <a:srgbClr val="D8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4527644"/>
            <a:ext cx="10908792" cy="457200"/>
          </a:xfrm>
          <a:prstGeom prst="rect">
            <a:avLst/>
          </a:prstGeom>
          <a:noFill/>
        </p:spPr>
        <p:txBody>
          <a:bodyPr wrap="square">
            <a:spAutoFit/>
          </a:bodyPr>
          <a:lstStyle/>
          <a:p>
            <a:pPr algn="l"/>
            <a:r>
              <a:rPr sz="1100" b="1">
                <a:solidFill>
                  <a:srgbClr val="0173B2"/>
                </a:solidFill>
                <a:latin typeface="Calibri"/>
              </a:rPr>
              <a:t>WHY IT MATTERS  </a:t>
            </a:r>
            <a:r>
              <a:rPr sz="1350" b="0">
                <a:solidFill>
                  <a:srgbClr val="1A1F2B"/>
                </a:solidFill>
                <a:latin typeface="Calibri"/>
              </a:rPr>
              <a:t>Early fusion barely moved (0.889). Late fusion did best on validation (0.896) with w = 0.80, so the structured model does most of the work and the notes add a bit on top.</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292608"/>
            <a:ext cx="10908792" cy="274320"/>
          </a:xfrm>
          <a:prstGeom prst="rect">
            <a:avLst/>
          </a:prstGeom>
          <a:noFill/>
        </p:spPr>
        <p:txBody>
          <a:bodyPr wrap="square">
            <a:spAutoFit/>
          </a:bodyPr>
          <a:lstStyle/>
          <a:p>
            <a:pPr algn="l"/>
            <a:r>
              <a:rPr sz="1200" b="1">
                <a:solidFill>
                  <a:srgbClr val="0173B2"/>
                </a:solidFill>
                <a:latin typeface="Calibri"/>
              </a:rPr>
              <a:t>STEP 12 · PYTORCH</a:t>
            </a:r>
          </a:p>
        </p:txBody>
      </p:sp>
      <p:sp>
        <p:nvSpPr>
          <p:cNvPr id="3" name="TextBox 2"/>
          <p:cNvSpPr txBox="1"/>
          <p:nvPr/>
        </p:nvSpPr>
        <p:spPr>
          <a:xfrm>
            <a:off x="640080" y="566928"/>
            <a:ext cx="10908792" cy="457200"/>
          </a:xfrm>
          <a:prstGeom prst="rect">
            <a:avLst/>
          </a:prstGeom>
          <a:noFill/>
        </p:spPr>
        <p:txBody>
          <a:bodyPr wrap="square">
            <a:spAutoFit/>
          </a:bodyPr>
          <a:lstStyle/>
          <a:p>
            <a:pPr algn="l"/>
            <a:r>
              <a:rPr sz="2500" b="1">
                <a:solidFill>
                  <a:srgbClr val="1A1F2B"/>
                </a:solidFill>
                <a:latin typeface="Calibri"/>
              </a:rPr>
              <a:t>Intermediate fusion network</a:t>
            </a:r>
          </a:p>
        </p:txBody>
      </p:sp>
      <p:sp>
        <p:nvSpPr>
          <p:cNvPr id="4" name="Rectangle 3"/>
          <p:cNvSpPr/>
          <p:nvPr/>
        </p:nvSpPr>
        <p:spPr>
          <a:xfrm>
            <a:off x="640080" y="1133856"/>
            <a:ext cx="10908792" cy="9525"/>
          </a:xfrm>
          <a:prstGeom prst="rect">
            <a:avLst/>
          </a:prstGeom>
          <a:solidFill>
            <a:srgbClr val="D8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243584"/>
            <a:ext cx="10908792" cy="393192"/>
          </a:xfrm>
          <a:prstGeom prst="rect">
            <a:avLst/>
          </a:prstGeom>
          <a:noFill/>
        </p:spPr>
        <p:txBody>
          <a:bodyPr wrap="square">
            <a:spAutoFit/>
          </a:bodyPr>
          <a:lstStyle/>
          <a:p>
            <a:pPr algn="l"/>
            <a:r>
              <a:rPr sz="1300" b="0">
                <a:solidFill>
                  <a:srgbClr val="5A6374"/>
                </a:solidFill>
                <a:latin typeface="Calibri"/>
              </a:rPr>
              <a:t>One small MLP per modality squeezes it to 64 numbers, the two are concatenated, and a final layer predicts.</a:t>
            </a:r>
          </a:p>
        </p:txBody>
      </p:sp>
      <p:pic>
        <p:nvPicPr>
          <p:cNvPr id="6" name="Picture 5" descr="cell27_in.png"/>
          <p:cNvPicPr>
            <a:picLocks noChangeAspect="1"/>
          </p:cNvPicPr>
          <p:nvPr/>
        </p:nvPicPr>
        <p:blipFill>
          <a:blip r:embed="rId2"/>
          <a:stretch>
            <a:fillRect/>
          </a:stretch>
        </p:blipFill>
        <p:spPr>
          <a:xfrm>
            <a:off x="640080" y="1828800"/>
            <a:ext cx="7498337" cy="3931920"/>
          </a:xfrm>
          <a:prstGeom prst="rect">
            <a:avLst/>
          </a:prstGeom>
        </p:spPr>
      </p:pic>
      <p:pic>
        <p:nvPicPr>
          <p:cNvPr id="7" name="Picture 6" descr="cell27_out0.png"/>
          <p:cNvPicPr>
            <a:picLocks noChangeAspect="1"/>
          </p:cNvPicPr>
          <p:nvPr/>
        </p:nvPicPr>
        <p:blipFill>
          <a:blip r:embed="rId3"/>
          <a:stretch>
            <a:fillRect/>
          </a:stretch>
        </p:blipFill>
        <p:spPr>
          <a:xfrm>
            <a:off x="8631570" y="1828800"/>
            <a:ext cx="2917301" cy="188909"/>
          </a:xfrm>
          <a:prstGeom prst="rect">
            <a:avLst/>
          </a:prstGeom>
        </p:spPr>
      </p:pic>
      <p:sp>
        <p:nvSpPr>
          <p:cNvPr id="8" name="Rectangle 7"/>
          <p:cNvSpPr/>
          <p:nvPr/>
        </p:nvSpPr>
        <p:spPr>
          <a:xfrm>
            <a:off x="640080" y="5897880"/>
            <a:ext cx="10908792" cy="9525"/>
          </a:xfrm>
          <a:prstGeom prst="rect">
            <a:avLst/>
          </a:prstGeom>
          <a:solidFill>
            <a:srgbClr val="D8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6007608"/>
            <a:ext cx="10908792" cy="457200"/>
          </a:xfrm>
          <a:prstGeom prst="rect">
            <a:avLst/>
          </a:prstGeom>
          <a:noFill/>
        </p:spPr>
        <p:txBody>
          <a:bodyPr wrap="square">
            <a:spAutoFit/>
          </a:bodyPr>
          <a:lstStyle/>
          <a:p>
            <a:pPr algn="l"/>
            <a:r>
              <a:rPr sz="1100" b="1">
                <a:solidFill>
                  <a:srgbClr val="0173B2"/>
                </a:solidFill>
                <a:latin typeface="Calibri"/>
              </a:rPr>
              <a:t>WHY IT MATTERS  </a:t>
            </a:r>
            <a:r>
              <a:rPr sz="1350" b="0">
                <a:solidFill>
                  <a:srgbClr val="1A1F2B"/>
                </a:solidFill>
                <a:latin typeface="Calibri"/>
              </a:rPr>
              <a:t>Stopped after 14 epochs with the best at epoch 9 (val AUROC 0.891). It beats each modality alone, but it isn't better than the simple weighted average.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292608"/>
            <a:ext cx="10908792" cy="274320"/>
          </a:xfrm>
          <a:prstGeom prst="rect">
            <a:avLst/>
          </a:prstGeom>
          <a:noFill/>
        </p:spPr>
        <p:txBody>
          <a:bodyPr wrap="square">
            <a:spAutoFit/>
          </a:bodyPr>
          <a:lstStyle/>
          <a:p>
            <a:pPr algn="l"/>
            <a:r>
              <a:rPr sz="1200" b="1">
                <a:solidFill>
                  <a:srgbClr val="0173B2"/>
                </a:solidFill>
                <a:latin typeface="Calibri"/>
              </a:rPr>
              <a:t>STEP 13 · TEST SET</a:t>
            </a:r>
          </a:p>
        </p:txBody>
      </p:sp>
      <p:sp>
        <p:nvSpPr>
          <p:cNvPr id="3" name="TextBox 2"/>
          <p:cNvSpPr txBox="1"/>
          <p:nvPr/>
        </p:nvSpPr>
        <p:spPr>
          <a:xfrm>
            <a:off x="640080" y="566928"/>
            <a:ext cx="10908792" cy="457200"/>
          </a:xfrm>
          <a:prstGeom prst="rect">
            <a:avLst/>
          </a:prstGeom>
          <a:noFill/>
        </p:spPr>
        <p:txBody>
          <a:bodyPr wrap="square">
            <a:spAutoFit/>
          </a:bodyPr>
          <a:lstStyle/>
          <a:p>
            <a:pPr algn="l"/>
            <a:r>
              <a:rPr sz="2500" b="1">
                <a:solidFill>
                  <a:srgbClr val="1A1F2B"/>
                </a:solidFill>
                <a:latin typeface="Calibri"/>
              </a:rPr>
              <a:t>Results</a:t>
            </a:r>
          </a:p>
        </p:txBody>
      </p:sp>
      <p:sp>
        <p:nvSpPr>
          <p:cNvPr id="4" name="Rectangle 3"/>
          <p:cNvSpPr/>
          <p:nvPr/>
        </p:nvSpPr>
        <p:spPr>
          <a:xfrm>
            <a:off x="640080" y="1133856"/>
            <a:ext cx="10908792" cy="9525"/>
          </a:xfrm>
          <a:prstGeom prst="rect">
            <a:avLst/>
          </a:prstGeom>
          <a:solidFill>
            <a:srgbClr val="D8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243584"/>
            <a:ext cx="10908792" cy="393192"/>
          </a:xfrm>
          <a:prstGeom prst="rect">
            <a:avLst/>
          </a:prstGeom>
          <a:noFill/>
        </p:spPr>
        <p:txBody>
          <a:bodyPr wrap="square">
            <a:spAutoFit/>
          </a:bodyPr>
          <a:lstStyle/>
          <a:p>
            <a:pPr algn="l"/>
            <a:r>
              <a:rPr sz="1300" b="0">
                <a:solidFill>
                  <a:srgbClr val="5A6374"/>
                </a:solidFill>
                <a:latin typeface="Calibri"/>
              </a:rPr>
              <a:t>All models on the held-out test set, with 1,000-sample bootstrap confidence intervals for AUROC.</a:t>
            </a:r>
          </a:p>
        </p:txBody>
      </p:sp>
      <p:pic>
        <p:nvPicPr>
          <p:cNvPr id="6" name="Picture 5" descr="cell29_out0.png"/>
          <p:cNvPicPr>
            <a:picLocks noChangeAspect="1"/>
          </p:cNvPicPr>
          <p:nvPr/>
        </p:nvPicPr>
        <p:blipFill>
          <a:blip r:embed="rId2"/>
          <a:stretch>
            <a:fillRect/>
          </a:stretch>
        </p:blipFill>
        <p:spPr>
          <a:xfrm>
            <a:off x="640080" y="1828800"/>
            <a:ext cx="5317236" cy="2517202"/>
          </a:xfrm>
          <a:prstGeom prst="rect">
            <a:avLst/>
          </a:prstGeom>
        </p:spPr>
      </p:pic>
      <p:pic>
        <p:nvPicPr>
          <p:cNvPr id="7" name="Picture 6" descr="test_bars.png"/>
          <p:cNvPicPr>
            <a:picLocks noChangeAspect="1"/>
          </p:cNvPicPr>
          <p:nvPr/>
        </p:nvPicPr>
        <p:blipFill>
          <a:blip r:embed="rId3"/>
          <a:stretch>
            <a:fillRect/>
          </a:stretch>
        </p:blipFill>
        <p:spPr>
          <a:xfrm>
            <a:off x="6231636" y="1828800"/>
            <a:ext cx="5317236" cy="1740328"/>
          </a:xfrm>
          <a:prstGeom prst="rect">
            <a:avLst/>
          </a:prstGeom>
        </p:spPr>
      </p:pic>
      <p:sp>
        <p:nvSpPr>
          <p:cNvPr id="8" name="Rectangle 7"/>
          <p:cNvSpPr/>
          <p:nvPr/>
        </p:nvSpPr>
        <p:spPr>
          <a:xfrm>
            <a:off x="640080" y="4483162"/>
            <a:ext cx="10908792" cy="9525"/>
          </a:xfrm>
          <a:prstGeom prst="rect">
            <a:avLst/>
          </a:prstGeom>
          <a:solidFill>
            <a:srgbClr val="D8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4592890"/>
            <a:ext cx="10908792" cy="457200"/>
          </a:xfrm>
          <a:prstGeom prst="rect">
            <a:avLst/>
          </a:prstGeom>
          <a:noFill/>
        </p:spPr>
        <p:txBody>
          <a:bodyPr wrap="square">
            <a:spAutoFit/>
          </a:bodyPr>
          <a:lstStyle/>
          <a:p>
            <a:pPr algn="l"/>
            <a:r>
              <a:rPr sz="1100" b="1">
                <a:solidFill>
                  <a:srgbClr val="0173B2"/>
                </a:solidFill>
                <a:latin typeface="Calibri"/>
              </a:rPr>
              <a:t>WHY IT MATTERS  </a:t>
            </a:r>
            <a:r>
              <a:rPr sz="1350" b="0">
                <a:solidFill>
                  <a:srgbClr val="1A1F2B"/>
                </a:solidFill>
                <a:latin typeface="Calibri"/>
              </a:rPr>
              <a:t>On the test set late fusion is best (AUROC 0.888 vs 0.879 for structured only). All three fusion models beat the structured GBM, and TF-IDF beats ClinicalBERT on the notes.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292608"/>
            <a:ext cx="10908792" cy="274320"/>
          </a:xfrm>
          <a:prstGeom prst="rect">
            <a:avLst/>
          </a:prstGeom>
          <a:noFill/>
        </p:spPr>
        <p:txBody>
          <a:bodyPr wrap="square">
            <a:spAutoFit/>
          </a:bodyPr>
          <a:lstStyle/>
          <a:p>
            <a:pPr algn="l"/>
            <a:r>
              <a:rPr sz="1200" b="1">
                <a:solidFill>
                  <a:srgbClr val="0173B2"/>
                </a:solidFill>
                <a:latin typeface="Calibri"/>
              </a:rPr>
              <a:t>STEP 13 · TEST SET</a:t>
            </a:r>
          </a:p>
        </p:txBody>
      </p:sp>
      <p:sp>
        <p:nvSpPr>
          <p:cNvPr id="3" name="TextBox 2"/>
          <p:cNvSpPr txBox="1"/>
          <p:nvPr/>
        </p:nvSpPr>
        <p:spPr>
          <a:xfrm>
            <a:off x="640080" y="566928"/>
            <a:ext cx="10908792" cy="457200"/>
          </a:xfrm>
          <a:prstGeom prst="rect">
            <a:avLst/>
          </a:prstGeom>
          <a:noFill/>
        </p:spPr>
        <p:txBody>
          <a:bodyPr wrap="square">
            <a:spAutoFit/>
          </a:bodyPr>
          <a:lstStyle/>
          <a:p>
            <a:pPr algn="l"/>
            <a:r>
              <a:rPr sz="2500" b="1">
                <a:solidFill>
                  <a:srgbClr val="1A1F2B"/>
                </a:solidFill>
                <a:latin typeface="Calibri"/>
              </a:rPr>
              <a:t>ROC, precision-recall and calibration</a:t>
            </a:r>
          </a:p>
        </p:txBody>
      </p:sp>
      <p:sp>
        <p:nvSpPr>
          <p:cNvPr id="4" name="Rectangle 3"/>
          <p:cNvSpPr/>
          <p:nvPr/>
        </p:nvSpPr>
        <p:spPr>
          <a:xfrm>
            <a:off x="640080" y="1133856"/>
            <a:ext cx="10908792" cy="9525"/>
          </a:xfrm>
          <a:prstGeom prst="rect">
            <a:avLst/>
          </a:prstGeom>
          <a:solidFill>
            <a:srgbClr val="D8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243584"/>
            <a:ext cx="10908792" cy="393192"/>
          </a:xfrm>
          <a:prstGeom prst="rect">
            <a:avLst/>
          </a:prstGeom>
          <a:noFill/>
        </p:spPr>
        <p:txBody>
          <a:bodyPr wrap="square">
            <a:spAutoFit/>
          </a:bodyPr>
          <a:lstStyle/>
          <a:p>
            <a:pPr algn="l"/>
            <a:r>
              <a:rPr sz="1300" b="0">
                <a:solidFill>
                  <a:srgbClr val="5A6374"/>
                </a:solidFill>
                <a:latin typeface="Calibri"/>
              </a:rPr>
              <a:t>Curves for the best model of each kind. Blue is structured, orange is notes, green is fusion.</a:t>
            </a:r>
          </a:p>
        </p:txBody>
      </p:sp>
      <p:pic>
        <p:nvPicPr>
          <p:cNvPr id="6" name="Picture 5" descr="test_curves.png"/>
          <p:cNvPicPr>
            <a:picLocks noChangeAspect="1"/>
          </p:cNvPicPr>
          <p:nvPr/>
        </p:nvPicPr>
        <p:blipFill>
          <a:blip r:embed="rId2"/>
          <a:stretch>
            <a:fillRect/>
          </a:stretch>
        </p:blipFill>
        <p:spPr>
          <a:xfrm>
            <a:off x="640080" y="1828800"/>
            <a:ext cx="10908792" cy="3062041"/>
          </a:xfrm>
          <a:prstGeom prst="rect">
            <a:avLst/>
          </a:prstGeom>
        </p:spPr>
      </p:pic>
      <p:sp>
        <p:nvSpPr>
          <p:cNvPr id="7" name="Rectangle 6"/>
          <p:cNvSpPr/>
          <p:nvPr/>
        </p:nvSpPr>
        <p:spPr>
          <a:xfrm>
            <a:off x="640080" y="5028001"/>
            <a:ext cx="10908792" cy="9525"/>
          </a:xfrm>
          <a:prstGeom prst="rect">
            <a:avLst/>
          </a:prstGeom>
          <a:solidFill>
            <a:srgbClr val="D8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5137729"/>
            <a:ext cx="10908792" cy="457200"/>
          </a:xfrm>
          <a:prstGeom prst="rect">
            <a:avLst/>
          </a:prstGeom>
          <a:noFill/>
        </p:spPr>
        <p:txBody>
          <a:bodyPr wrap="square">
            <a:spAutoFit/>
          </a:bodyPr>
          <a:lstStyle/>
          <a:p>
            <a:pPr algn="l"/>
            <a:r>
              <a:rPr sz="1100" b="1">
                <a:solidFill>
                  <a:srgbClr val="0173B2"/>
                </a:solidFill>
                <a:latin typeface="Calibri"/>
              </a:rPr>
              <a:t>WHY IT MATTERS  </a:t>
            </a:r>
            <a:r>
              <a:rPr sz="1350" b="0">
                <a:solidFill>
                  <a:srgbClr val="1A1F2B"/>
                </a:solidFill>
                <a:latin typeface="Calibri"/>
              </a:rPr>
              <a:t>The fusion curves sit slightly above the structured one across the whole range, and all the models are reasonably well calibrated.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292608"/>
            <a:ext cx="10908792" cy="274320"/>
          </a:xfrm>
          <a:prstGeom prst="rect">
            <a:avLst/>
          </a:prstGeom>
          <a:noFill/>
        </p:spPr>
        <p:txBody>
          <a:bodyPr wrap="square">
            <a:spAutoFit/>
          </a:bodyPr>
          <a:lstStyle/>
          <a:p>
            <a:pPr algn="l"/>
            <a:r>
              <a:rPr sz="1200" b="1">
                <a:solidFill>
                  <a:srgbClr val="0173B2"/>
                </a:solidFill>
                <a:latin typeface="Calibri"/>
              </a:rPr>
              <a:t>STEP 14 · PAIRED BOOTSTRAP</a:t>
            </a:r>
          </a:p>
        </p:txBody>
      </p:sp>
      <p:sp>
        <p:nvSpPr>
          <p:cNvPr id="3" name="TextBox 2"/>
          <p:cNvSpPr txBox="1"/>
          <p:nvPr/>
        </p:nvSpPr>
        <p:spPr>
          <a:xfrm>
            <a:off x="640080" y="566928"/>
            <a:ext cx="10908792" cy="457200"/>
          </a:xfrm>
          <a:prstGeom prst="rect">
            <a:avLst/>
          </a:prstGeom>
          <a:noFill/>
        </p:spPr>
        <p:txBody>
          <a:bodyPr wrap="square">
            <a:spAutoFit/>
          </a:bodyPr>
          <a:lstStyle/>
          <a:p>
            <a:pPr algn="l"/>
            <a:r>
              <a:rPr sz="2500" b="1">
                <a:solidFill>
                  <a:srgbClr val="1A1F2B"/>
                </a:solidFill>
                <a:latin typeface="Calibri"/>
              </a:rPr>
              <a:t>Is the improvement real?</a:t>
            </a:r>
          </a:p>
        </p:txBody>
      </p:sp>
      <p:sp>
        <p:nvSpPr>
          <p:cNvPr id="4" name="Rectangle 3"/>
          <p:cNvSpPr/>
          <p:nvPr/>
        </p:nvSpPr>
        <p:spPr>
          <a:xfrm>
            <a:off x="640080" y="1133856"/>
            <a:ext cx="10908792" cy="9525"/>
          </a:xfrm>
          <a:prstGeom prst="rect">
            <a:avLst/>
          </a:prstGeom>
          <a:solidFill>
            <a:srgbClr val="D8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243584"/>
            <a:ext cx="10908792" cy="393192"/>
          </a:xfrm>
          <a:prstGeom prst="rect">
            <a:avLst/>
          </a:prstGeom>
          <a:noFill/>
        </p:spPr>
        <p:txBody>
          <a:bodyPr wrap="square">
            <a:spAutoFit/>
          </a:bodyPr>
          <a:lstStyle/>
          <a:p>
            <a:pPr algn="l"/>
            <a:r>
              <a:rPr sz="1300" b="0">
                <a:solidFill>
                  <a:srgbClr val="5A6374"/>
                </a:solidFill>
                <a:latin typeface="Calibri"/>
              </a:rPr>
              <a:t>Bootstraps the difference in AUROC between the best fusion model and the structured GBM on the same resamples.</a:t>
            </a:r>
          </a:p>
        </p:txBody>
      </p:sp>
      <p:pic>
        <p:nvPicPr>
          <p:cNvPr id="6" name="Picture 5" descr="cell33_in.png"/>
          <p:cNvPicPr>
            <a:picLocks noChangeAspect="1"/>
          </p:cNvPicPr>
          <p:nvPr/>
        </p:nvPicPr>
        <p:blipFill>
          <a:blip r:embed="rId2"/>
          <a:stretch>
            <a:fillRect/>
          </a:stretch>
        </p:blipFill>
        <p:spPr>
          <a:xfrm>
            <a:off x="640080" y="1828800"/>
            <a:ext cx="10908792" cy="789558"/>
          </a:xfrm>
          <a:prstGeom prst="rect">
            <a:avLst/>
          </a:prstGeom>
        </p:spPr>
      </p:pic>
      <p:pic>
        <p:nvPicPr>
          <p:cNvPr id="7" name="Picture 6" descr="cell33_out0.png"/>
          <p:cNvPicPr>
            <a:picLocks noChangeAspect="1"/>
          </p:cNvPicPr>
          <p:nvPr/>
        </p:nvPicPr>
        <p:blipFill>
          <a:blip r:embed="rId3"/>
          <a:stretch>
            <a:fillRect/>
          </a:stretch>
        </p:blipFill>
        <p:spPr>
          <a:xfrm>
            <a:off x="640080" y="2691510"/>
            <a:ext cx="5663870" cy="281985"/>
          </a:xfrm>
          <a:prstGeom prst="rect">
            <a:avLst/>
          </a:prstGeom>
        </p:spPr>
      </p:pic>
      <p:sp>
        <p:nvSpPr>
          <p:cNvPr id="8" name="Rectangle 7"/>
          <p:cNvSpPr/>
          <p:nvPr/>
        </p:nvSpPr>
        <p:spPr>
          <a:xfrm>
            <a:off x="640080" y="3110655"/>
            <a:ext cx="10908792" cy="9525"/>
          </a:xfrm>
          <a:prstGeom prst="rect">
            <a:avLst/>
          </a:prstGeom>
          <a:solidFill>
            <a:srgbClr val="D8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3220383"/>
            <a:ext cx="10908792" cy="457200"/>
          </a:xfrm>
          <a:prstGeom prst="rect">
            <a:avLst/>
          </a:prstGeom>
          <a:noFill/>
        </p:spPr>
        <p:txBody>
          <a:bodyPr wrap="square">
            <a:spAutoFit/>
          </a:bodyPr>
          <a:lstStyle/>
          <a:p>
            <a:pPr algn="l"/>
            <a:r>
              <a:rPr sz="1100" b="1">
                <a:solidFill>
                  <a:srgbClr val="0173B2"/>
                </a:solidFill>
                <a:latin typeface="Calibri"/>
              </a:rPr>
              <a:t>WHY IT MATTERS  </a:t>
            </a:r>
            <a:r>
              <a:rPr sz="1350" b="0">
                <a:solidFill>
                  <a:srgbClr val="1A1F2B"/>
                </a:solidFill>
                <a:latin typeface="Calibri"/>
              </a:rPr>
              <a:t>Late fusion is +0.009 AUROC better (95% CI +0.006 to +0.013) and wins in every bootstrap sample. It's a small gain, but it's real.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292608"/>
            <a:ext cx="10908792" cy="274320"/>
          </a:xfrm>
          <a:prstGeom prst="rect">
            <a:avLst/>
          </a:prstGeom>
          <a:noFill/>
        </p:spPr>
        <p:txBody>
          <a:bodyPr wrap="square">
            <a:spAutoFit/>
          </a:bodyPr>
          <a:lstStyle/>
          <a:p>
            <a:pPr algn="l"/>
            <a:r>
              <a:rPr sz="1200" b="1">
                <a:solidFill>
                  <a:srgbClr val="0173B2"/>
                </a:solidFill>
                <a:latin typeface="Calibri"/>
              </a:rPr>
              <a:t>STEP 15 · INTERPRETATION</a:t>
            </a:r>
          </a:p>
        </p:txBody>
      </p:sp>
      <p:sp>
        <p:nvSpPr>
          <p:cNvPr id="3" name="TextBox 2"/>
          <p:cNvSpPr txBox="1"/>
          <p:nvPr/>
        </p:nvSpPr>
        <p:spPr>
          <a:xfrm>
            <a:off x="640080" y="566928"/>
            <a:ext cx="10908792" cy="457200"/>
          </a:xfrm>
          <a:prstGeom prst="rect">
            <a:avLst/>
          </a:prstGeom>
          <a:noFill/>
        </p:spPr>
        <p:txBody>
          <a:bodyPr wrap="square">
            <a:spAutoFit/>
          </a:bodyPr>
          <a:lstStyle/>
          <a:p>
            <a:pPr algn="l"/>
            <a:r>
              <a:rPr sz="2500" b="1">
                <a:solidFill>
                  <a:srgbClr val="1A1F2B"/>
                </a:solidFill>
                <a:latin typeface="Calibri"/>
              </a:rPr>
              <a:t>What the models look at</a:t>
            </a:r>
          </a:p>
        </p:txBody>
      </p:sp>
      <p:sp>
        <p:nvSpPr>
          <p:cNvPr id="4" name="Rectangle 3"/>
          <p:cNvSpPr/>
          <p:nvPr/>
        </p:nvSpPr>
        <p:spPr>
          <a:xfrm>
            <a:off x="640080" y="1133856"/>
            <a:ext cx="10908792" cy="9525"/>
          </a:xfrm>
          <a:prstGeom prst="rect">
            <a:avLst/>
          </a:prstGeom>
          <a:solidFill>
            <a:srgbClr val="D8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243584"/>
            <a:ext cx="10908792" cy="393192"/>
          </a:xfrm>
          <a:prstGeom prst="rect">
            <a:avLst/>
          </a:prstGeom>
          <a:noFill/>
        </p:spPr>
        <p:txBody>
          <a:bodyPr wrap="square">
            <a:spAutoFit/>
          </a:bodyPr>
          <a:lstStyle/>
          <a:p>
            <a:pPr algn="l"/>
            <a:r>
              <a:rPr sz="1300" b="0">
                <a:solidFill>
                  <a:srgbClr val="5A6374"/>
                </a:solidFill>
                <a:latin typeface="Calibri"/>
              </a:rPr>
              <a:t>Permutation importance for the structured GBM and the largest TF-IDF coefficients.</a:t>
            </a:r>
          </a:p>
        </p:txBody>
      </p:sp>
      <p:pic>
        <p:nvPicPr>
          <p:cNvPr id="6" name="Picture 5" descr="interpretation.png"/>
          <p:cNvPicPr>
            <a:picLocks noChangeAspect="1"/>
          </p:cNvPicPr>
          <p:nvPr/>
        </p:nvPicPr>
        <p:blipFill>
          <a:blip r:embed="rId2"/>
          <a:stretch>
            <a:fillRect/>
          </a:stretch>
        </p:blipFill>
        <p:spPr>
          <a:xfrm>
            <a:off x="640080" y="1828800"/>
            <a:ext cx="10436076" cy="3931919"/>
          </a:xfrm>
          <a:prstGeom prst="rect">
            <a:avLst/>
          </a:prstGeom>
        </p:spPr>
      </p:pic>
      <p:sp>
        <p:nvSpPr>
          <p:cNvPr id="7" name="Rectangle 6"/>
          <p:cNvSpPr/>
          <p:nvPr/>
        </p:nvSpPr>
        <p:spPr>
          <a:xfrm>
            <a:off x="640080" y="5897879"/>
            <a:ext cx="10908792" cy="9525"/>
          </a:xfrm>
          <a:prstGeom prst="rect">
            <a:avLst/>
          </a:prstGeom>
          <a:solidFill>
            <a:srgbClr val="D8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007607"/>
            <a:ext cx="10908792" cy="457200"/>
          </a:xfrm>
          <a:prstGeom prst="rect">
            <a:avLst/>
          </a:prstGeom>
          <a:noFill/>
        </p:spPr>
        <p:txBody>
          <a:bodyPr wrap="square">
            <a:spAutoFit/>
          </a:bodyPr>
          <a:lstStyle/>
          <a:p>
            <a:pPr algn="l"/>
            <a:r>
              <a:rPr sz="1100" b="1">
                <a:solidFill>
                  <a:srgbClr val="0173B2"/>
                </a:solidFill>
                <a:latin typeface="Calibri"/>
              </a:rPr>
              <a:t>WHY IT MATTERS  </a:t>
            </a:r>
            <a:r>
              <a:rPr sz="1350" b="0">
                <a:solidFill>
                  <a:srgbClr val="1A1F2B"/>
                </a:solidFill>
                <a:latin typeface="Calibri"/>
              </a:rPr>
              <a:t>The structured model leans on age and the GCS scores. The notes pick up words like dnr, cmo (comfort measures only) and family meeting, which the numbers can't capture.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292608"/>
            <a:ext cx="10908792" cy="274320"/>
          </a:xfrm>
          <a:prstGeom prst="rect">
            <a:avLst/>
          </a:prstGeom>
          <a:noFill/>
        </p:spPr>
        <p:txBody>
          <a:bodyPr wrap="square">
            <a:spAutoFit/>
          </a:bodyPr>
          <a:lstStyle/>
          <a:p>
            <a:pPr algn="l"/>
            <a:r>
              <a:rPr sz="1200" b="1">
                <a:solidFill>
                  <a:srgbClr val="0173B2"/>
                </a:solidFill>
                <a:latin typeface="Calibri"/>
              </a:rPr>
              <a:t>STEP 16 · SUBGROUPS</a:t>
            </a:r>
          </a:p>
        </p:txBody>
      </p:sp>
      <p:sp>
        <p:nvSpPr>
          <p:cNvPr id="3" name="TextBox 2"/>
          <p:cNvSpPr txBox="1"/>
          <p:nvPr/>
        </p:nvSpPr>
        <p:spPr>
          <a:xfrm>
            <a:off x="640080" y="566928"/>
            <a:ext cx="10908792" cy="457200"/>
          </a:xfrm>
          <a:prstGeom prst="rect">
            <a:avLst/>
          </a:prstGeom>
          <a:noFill/>
        </p:spPr>
        <p:txBody>
          <a:bodyPr wrap="square">
            <a:spAutoFit/>
          </a:bodyPr>
          <a:lstStyle/>
          <a:p>
            <a:pPr algn="l"/>
            <a:r>
              <a:rPr sz="2500" b="1">
                <a:solidFill>
                  <a:srgbClr val="1A1F2B"/>
                </a:solidFill>
                <a:latin typeface="Calibri"/>
              </a:rPr>
              <a:t>Where the notes help most</a:t>
            </a:r>
          </a:p>
        </p:txBody>
      </p:sp>
      <p:sp>
        <p:nvSpPr>
          <p:cNvPr id="4" name="Rectangle 3"/>
          <p:cNvSpPr/>
          <p:nvPr/>
        </p:nvSpPr>
        <p:spPr>
          <a:xfrm>
            <a:off x="640080" y="1133856"/>
            <a:ext cx="10908792" cy="9525"/>
          </a:xfrm>
          <a:prstGeom prst="rect">
            <a:avLst/>
          </a:prstGeom>
          <a:solidFill>
            <a:srgbClr val="D8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243584"/>
            <a:ext cx="10908792" cy="393192"/>
          </a:xfrm>
          <a:prstGeom prst="rect">
            <a:avLst/>
          </a:prstGeom>
          <a:noFill/>
        </p:spPr>
        <p:txBody>
          <a:bodyPr wrap="square">
            <a:spAutoFit/>
          </a:bodyPr>
          <a:lstStyle/>
          <a:p>
            <a:pPr algn="l"/>
            <a:r>
              <a:rPr sz="1300" b="0">
                <a:solidFill>
                  <a:srgbClr val="5A6374"/>
                </a:solidFill>
                <a:latin typeface="Calibri"/>
              </a:rPr>
              <a:t>Test AUROC per first ICU unit, structured GBM vs. the best fusion model.</a:t>
            </a:r>
          </a:p>
        </p:txBody>
      </p:sp>
      <p:pic>
        <p:nvPicPr>
          <p:cNvPr id="6" name="Picture 5" descr="cell37_out0.png"/>
          <p:cNvPicPr>
            <a:picLocks noChangeAspect="1"/>
          </p:cNvPicPr>
          <p:nvPr/>
        </p:nvPicPr>
        <p:blipFill>
          <a:blip r:embed="rId2"/>
          <a:stretch>
            <a:fillRect/>
          </a:stretch>
        </p:blipFill>
        <p:spPr>
          <a:xfrm>
            <a:off x="640080" y="1828800"/>
            <a:ext cx="4771796" cy="1966501"/>
          </a:xfrm>
          <a:prstGeom prst="rect">
            <a:avLst/>
          </a:prstGeom>
        </p:spPr>
      </p:pic>
      <p:pic>
        <p:nvPicPr>
          <p:cNvPr id="7" name="Picture 6" descr="by_unit.png"/>
          <p:cNvPicPr>
            <a:picLocks noChangeAspect="1"/>
          </p:cNvPicPr>
          <p:nvPr/>
        </p:nvPicPr>
        <p:blipFill>
          <a:blip r:embed="rId3"/>
          <a:stretch>
            <a:fillRect/>
          </a:stretch>
        </p:blipFill>
        <p:spPr>
          <a:xfrm>
            <a:off x="5686196" y="1828800"/>
            <a:ext cx="5862675" cy="2871831"/>
          </a:xfrm>
          <a:prstGeom prst="rect">
            <a:avLst/>
          </a:prstGeom>
        </p:spPr>
      </p:pic>
      <p:sp>
        <p:nvSpPr>
          <p:cNvPr id="8" name="Rectangle 7"/>
          <p:cNvSpPr/>
          <p:nvPr/>
        </p:nvSpPr>
        <p:spPr>
          <a:xfrm>
            <a:off x="640080" y="4837791"/>
            <a:ext cx="10908792" cy="9525"/>
          </a:xfrm>
          <a:prstGeom prst="rect">
            <a:avLst/>
          </a:prstGeom>
          <a:solidFill>
            <a:srgbClr val="D8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4947519"/>
            <a:ext cx="10908792" cy="457200"/>
          </a:xfrm>
          <a:prstGeom prst="rect">
            <a:avLst/>
          </a:prstGeom>
          <a:noFill/>
        </p:spPr>
        <p:txBody>
          <a:bodyPr wrap="square">
            <a:spAutoFit/>
          </a:bodyPr>
          <a:lstStyle/>
          <a:p>
            <a:pPr algn="l"/>
            <a:r>
              <a:rPr sz="1100" b="1">
                <a:solidFill>
                  <a:srgbClr val="0173B2"/>
                </a:solidFill>
                <a:latin typeface="Calibri"/>
              </a:rPr>
              <a:t>WHY IT MATTERS  </a:t>
            </a:r>
            <a:r>
              <a:rPr sz="1350" b="0">
                <a:solidFill>
                  <a:srgbClr val="1A1F2B"/>
                </a:solidFill>
                <a:latin typeface="Calibri"/>
              </a:rPr>
              <a:t>Fusion is better in every unit. The biggest gains are in the CSRU, TSICU and CCU (+0.016 to +0.019).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MIMIC Multimodal Fusion</dc:title>
  <dc:subject/>
  <dc:creator/>
  <cp:keywords/>
  <dc:description>generated using python-pptx</dc:description>
  <cp:lastModifiedBy/>
  <cp:revision>1</cp:revision>
  <dcterms:created xsi:type="dcterms:W3CDTF">2013-01-27T09:14:16Z</dcterms:created>
  <dcterms:modified xsi:type="dcterms:W3CDTF">2013-01-27T09:15:58Z</dcterms:modified>
  <cp:category/>
</cp:coreProperties>
</file>